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61FE25-6CF0-4A1F-B462-C2B5D3F80F85}" v="51" dt="2026-06-09T15:57:42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2622" autoAdjust="0"/>
  </p:normalViewPr>
  <p:slideViewPr>
    <p:cSldViewPr snapToGrid="0" snapToObjects="1">
      <p:cViewPr varScale="1">
        <p:scale>
          <a:sx n="121" d="100"/>
          <a:sy n="121" d="100"/>
        </p:scale>
        <p:origin x="1314" y="10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HULLAH BADHURDEEN" userId="38191fa57b5766cf" providerId="LiveId" clId="{7DD2123D-4853-454B-AB2D-0FD32E8814F7}"/>
    <pc:docChg chg="undo custSel modSld">
      <pc:chgData name="ABDHULLAH BADHURDEEN" userId="38191fa57b5766cf" providerId="LiveId" clId="{7DD2123D-4853-454B-AB2D-0FD32E8814F7}" dt="2026-06-09T15:59:20.504" v="99" actId="21"/>
      <pc:docMkLst>
        <pc:docMk/>
      </pc:docMkLst>
      <pc:sldChg chg="addSp delSp modSp mod">
        <pc:chgData name="ABDHULLAH BADHURDEEN" userId="38191fa57b5766cf" providerId="LiveId" clId="{7DD2123D-4853-454B-AB2D-0FD32E8814F7}" dt="2026-06-09T15:46:53.321" v="72" actId="1076"/>
        <pc:sldMkLst>
          <pc:docMk/>
          <pc:sldMk cId="0" sldId="256"/>
        </pc:sldMkLst>
        <pc:spChg chg="del">
          <ac:chgData name="ABDHULLAH BADHURDEEN" userId="38191fa57b5766cf" providerId="LiveId" clId="{7DD2123D-4853-454B-AB2D-0FD32E8814F7}" dt="2026-06-09T15:44:46.717" v="57" actId="21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9T15:44:52.074" v="58" actId="21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9T15:45:41.692" v="63" actId="21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46:09.036" v="69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46:53.321" v="72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46:02.151" v="67" actId="1076"/>
          <ac:spMkLst>
            <pc:docMk/>
            <pc:sldMk cId="0" sldId="256"/>
            <ac:spMk id="15" creationId="{00000000-0000-0000-0000-000000000000}"/>
          </ac:spMkLst>
        </pc:spChg>
        <pc:picChg chg="add mod">
          <ac:chgData name="ABDHULLAH BADHURDEEN" userId="38191fa57b5766cf" providerId="LiveId" clId="{7DD2123D-4853-454B-AB2D-0FD32E8814F7}" dt="2026-06-09T15:46:45.199" v="71" actId="14100"/>
          <ac:picMkLst>
            <pc:docMk/>
            <pc:sldMk cId="0" sldId="256"/>
            <ac:picMk id="20" creationId="{5E8D5E6D-9723-BC94-61C0-C6CB24A5FA1A}"/>
          </ac:picMkLst>
        </pc:picChg>
      </pc:sldChg>
      <pc:sldChg chg="addSp delSp modSp mod">
        <pc:chgData name="ABDHULLAH BADHURDEEN" userId="38191fa57b5766cf" providerId="LiveId" clId="{7DD2123D-4853-454B-AB2D-0FD32E8814F7}" dt="2026-06-09T15:57:42.808" v="98"/>
        <pc:sldMkLst>
          <pc:docMk/>
          <pc:sldMk cId="0" sldId="257"/>
        </pc:sldMkLst>
        <pc:spChg chg="add del mod">
          <ac:chgData name="ABDHULLAH BADHURDEEN" userId="38191fa57b5766cf" providerId="LiveId" clId="{7DD2123D-4853-454B-AB2D-0FD32E8814F7}" dt="2026-06-09T15:56:10.705" v="94" actId="164"/>
          <ac:spMkLst>
            <pc:docMk/>
            <pc:sldMk cId="0" sldId="257"/>
            <ac:spMk id="6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6:10.705" v="94" actId="164"/>
          <ac:spMkLst>
            <pc:docMk/>
            <pc:sldMk cId="0" sldId="257"/>
            <ac:spMk id="7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9T15:49:55.911" v="75" actId="21"/>
          <ac:spMkLst>
            <pc:docMk/>
            <pc:sldMk cId="0" sldId="257"/>
            <ac:spMk id="8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9T15:50:09.572" v="78" actId="21"/>
          <ac:spMkLst>
            <pc:docMk/>
            <pc:sldMk cId="0" sldId="257"/>
            <ac:spMk id="9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6:35.778" v="95" actId="164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6:35.778" v="95" actId="16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6:35.778" v="95" actId="16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6:35.778" v="95" actId="16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6:48.999" v="96" actId="164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6:48.999" v="96" actId="16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7:21.018" v="9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9T15:57:42.808" v="98"/>
          <ac:spMkLst>
            <pc:docMk/>
            <pc:sldMk cId="0" sldId="257"/>
            <ac:spMk id="17" creationId="{00000000-0000-0000-0000-000000000000}"/>
          </ac:spMkLst>
        </pc:spChg>
        <pc:spChg chg="add mod">
          <ac:chgData name="ABDHULLAH BADHURDEEN" userId="38191fa57b5766cf" providerId="LiveId" clId="{7DD2123D-4853-454B-AB2D-0FD32E8814F7}" dt="2026-06-09T15:56:10.705" v="94" actId="164"/>
          <ac:spMkLst>
            <pc:docMk/>
            <pc:sldMk cId="0" sldId="257"/>
            <ac:spMk id="20" creationId="{308B7C33-ACE1-75D0-8BF9-C1621BE3AEB8}"/>
          </ac:spMkLst>
        </pc:spChg>
        <pc:spChg chg="add mod">
          <ac:chgData name="ABDHULLAH BADHURDEEN" userId="38191fa57b5766cf" providerId="LiveId" clId="{7DD2123D-4853-454B-AB2D-0FD32E8814F7}" dt="2026-06-09T15:56:10.705" v="94" actId="164"/>
          <ac:spMkLst>
            <pc:docMk/>
            <pc:sldMk cId="0" sldId="257"/>
            <ac:spMk id="21" creationId="{BF8C67B3-370A-0812-7332-EB9FF2C32F2D}"/>
          </ac:spMkLst>
        </pc:spChg>
        <pc:grpChg chg="add mod">
          <ac:chgData name="ABDHULLAH BADHURDEEN" userId="38191fa57b5766cf" providerId="LiveId" clId="{7DD2123D-4853-454B-AB2D-0FD32E8814F7}" dt="2026-06-09T15:56:10.705" v="94" actId="164"/>
          <ac:grpSpMkLst>
            <pc:docMk/>
            <pc:sldMk cId="0" sldId="257"/>
            <ac:grpSpMk id="22" creationId="{2496F9A1-DC24-77E9-B676-2A424C06A21B}"/>
          </ac:grpSpMkLst>
        </pc:grpChg>
        <pc:grpChg chg="add mod">
          <ac:chgData name="ABDHULLAH BADHURDEEN" userId="38191fa57b5766cf" providerId="LiveId" clId="{7DD2123D-4853-454B-AB2D-0FD32E8814F7}" dt="2026-06-09T15:56:35.778" v="95" actId="164"/>
          <ac:grpSpMkLst>
            <pc:docMk/>
            <pc:sldMk cId="0" sldId="257"/>
            <ac:grpSpMk id="23" creationId="{F91FF08B-F6DF-F0E9-B216-FD83EDBCAAA4}"/>
          </ac:grpSpMkLst>
        </pc:grpChg>
        <pc:grpChg chg="add mod">
          <ac:chgData name="ABDHULLAH BADHURDEEN" userId="38191fa57b5766cf" providerId="LiveId" clId="{7DD2123D-4853-454B-AB2D-0FD32E8814F7}" dt="2026-06-09T15:56:48.999" v="96" actId="164"/>
          <ac:grpSpMkLst>
            <pc:docMk/>
            <pc:sldMk cId="0" sldId="257"/>
            <ac:grpSpMk id="24" creationId="{6C0FE32C-B8BF-968E-BDB2-704D3B5FF0D2}"/>
          </ac:grpSpMkLst>
        </pc:grpChg>
      </pc:sldChg>
      <pc:sldChg chg="delSp mod">
        <pc:chgData name="ABDHULLAH BADHURDEEN" userId="38191fa57b5766cf" providerId="LiveId" clId="{7DD2123D-4853-454B-AB2D-0FD32E8814F7}" dt="2026-06-09T15:59:20.504" v="99" actId="21"/>
        <pc:sldMkLst>
          <pc:docMk/>
          <pc:sldMk cId="0" sldId="258"/>
        </pc:sldMkLst>
        <pc:spChg chg="del">
          <ac:chgData name="ABDHULLAH BADHURDEEN" userId="38191fa57b5766cf" providerId="LiveId" clId="{7DD2123D-4853-454B-AB2D-0FD32E8814F7}" dt="2026-06-09T15:59:20.504" v="99" actId="21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mod">
        <pc:chgData name="ABDHULLAH BADHURDEEN" userId="38191fa57b5766cf" providerId="LiveId" clId="{7DD2123D-4853-454B-AB2D-0FD32E8814F7}" dt="2026-06-03T11:36:43.965" v="56" actId="1076"/>
        <pc:sldMkLst>
          <pc:docMk/>
          <pc:sldMk cId="0" sldId="262"/>
        </pc:sldMkLst>
        <pc:spChg chg="mod">
          <ac:chgData name="ABDHULLAH BADHURDEEN" userId="38191fa57b5766cf" providerId="LiveId" clId="{7DD2123D-4853-454B-AB2D-0FD32E8814F7}" dt="2026-06-03T11:31:11.429" v="4" actId="1076"/>
          <ac:spMkLst>
            <pc:docMk/>
            <pc:sldMk cId="0" sldId="262"/>
            <ac:spMk id="8" creationId="{00000000-0000-0000-0000-000000000000}"/>
          </ac:spMkLst>
        </pc:spChg>
        <pc:spChg chg="mod ord">
          <ac:chgData name="ABDHULLAH BADHURDEEN" userId="38191fa57b5766cf" providerId="LiveId" clId="{7DD2123D-4853-454B-AB2D-0FD32E8814F7}" dt="2026-06-03T11:34:31.070" v="3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11:35:57.869" v="51" actId="20577"/>
          <ac:spMkLst>
            <pc:docMk/>
            <pc:sldMk cId="0" sldId="262"/>
            <ac:spMk id="15" creationId="{00000000-0000-0000-0000-000000000000}"/>
          </ac:spMkLst>
        </pc:spChg>
        <pc:spChg chg="add">
          <ac:chgData name="ABDHULLAH BADHURDEEN" userId="38191fa57b5766cf" providerId="LiveId" clId="{7DD2123D-4853-454B-AB2D-0FD32E8814F7}" dt="2026-06-03T11:32:54.796" v="19"/>
          <ac:spMkLst>
            <pc:docMk/>
            <pc:sldMk cId="0" sldId="262"/>
            <ac:spMk id="49" creationId="{9E672005-3DB0-F734-CCDC-400698B3A9BF}"/>
          </ac:spMkLst>
        </pc:spChg>
        <pc:picChg chg="add mod">
          <ac:chgData name="ABDHULLAH BADHURDEEN" userId="38191fa57b5766cf" providerId="LiveId" clId="{7DD2123D-4853-454B-AB2D-0FD32E8814F7}" dt="2026-06-03T11:31:04.666" v="3" actId="1076"/>
          <ac:picMkLst>
            <pc:docMk/>
            <pc:sldMk cId="0" sldId="262"/>
            <ac:picMk id="1026" creationId="{5CD0E924-B8DB-C7DC-0612-33DE046696EC}"/>
          </ac:picMkLst>
        </pc:picChg>
        <pc:picChg chg="add mod">
          <ac:chgData name="ABDHULLAH BADHURDEEN" userId="38191fa57b5766cf" providerId="LiveId" clId="{7DD2123D-4853-454B-AB2D-0FD32E8814F7}" dt="2026-06-03T11:32:28.915" v="18" actId="1076"/>
          <ac:picMkLst>
            <pc:docMk/>
            <pc:sldMk cId="0" sldId="262"/>
            <ac:picMk id="1030" creationId="{F1464642-ED0D-BBB7-F16E-C417E17BBDF5}"/>
          </ac:picMkLst>
        </pc:picChg>
        <pc:picChg chg="add mod">
          <ac:chgData name="ABDHULLAH BADHURDEEN" userId="38191fa57b5766cf" providerId="LiveId" clId="{7DD2123D-4853-454B-AB2D-0FD32E8814F7}" dt="2026-06-03T11:35:47.164" v="49" actId="1076"/>
          <ac:picMkLst>
            <pc:docMk/>
            <pc:sldMk cId="0" sldId="262"/>
            <ac:picMk id="1038" creationId="{B028DCFB-3977-B579-4488-E230C639EED4}"/>
          </ac:picMkLst>
        </pc:picChg>
        <pc:picChg chg="add mod">
          <ac:chgData name="ABDHULLAH BADHURDEEN" userId="38191fa57b5766cf" providerId="LiveId" clId="{7DD2123D-4853-454B-AB2D-0FD32E8814F7}" dt="2026-06-03T11:36:43.965" v="56" actId="1076"/>
          <ac:picMkLst>
            <pc:docMk/>
            <pc:sldMk cId="0" sldId="262"/>
            <ac:picMk id="1040" creationId="{53F862EE-1EBC-B8F0-4E52-C422717A40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087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Good [morning/afternoon]. My name is [Member 4], and I'll be walking you through the technology stack we used to build Hexa.</a:t>
            </a:r>
          </a:p>
          <a:p>
            <a:r>
              <a:rPr lang="en-GB" dirty="0"/>
              <a:t>We chose a modern, open-source web stack so the game runs directly in any browser — no downloads, no installations required.</a:t>
            </a:r>
          </a:p>
          <a:p>
            <a:r>
              <a:rPr lang="en-GB" dirty="0"/>
              <a:t>React handles the core structure and all 45 quiz scenarios. It lets us build a dynamic, component-based interface where each age group's content loads cleanly without reloading the page.</a:t>
            </a:r>
          </a:p>
          <a:p>
            <a:r>
              <a:rPr lang="en-GB" dirty="0"/>
              <a:t>CSS manages the responsive layout and the age-themed visual design — so Children, Teens, and Adults each get a distinct look and feel that matches their experience level.</a:t>
            </a:r>
          </a:p>
          <a:p>
            <a:r>
              <a:rPr lang="en-GB" dirty="0"/>
              <a:t>JavaScript powers everything under the hood — the quiz logic, the scoring system, and the instant feedback players receive after every choice.</a:t>
            </a:r>
          </a:p>
          <a:p>
            <a:r>
              <a:rPr lang="en-GB" dirty="0"/>
              <a:t>Python was used for supporting tooling, data preparation, and backend utilities during development.</a:t>
            </a:r>
          </a:p>
          <a:p>
            <a:r>
              <a:rPr lang="en-GB" dirty="0"/>
              <a:t>You can see a snippet of our actual code on screen — this is from </a:t>
            </a:r>
            <a:r>
              <a:rPr lang="en-GB" dirty="0" err="1"/>
              <a:t>App.jsx</a:t>
            </a:r>
            <a:r>
              <a:rPr lang="en-GB" dirty="0"/>
              <a:t>, our main quiz component. It shows real state management using React hooks, demonstrating this was a genuinely built, working application — not a prototype.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Hexa wasn't built by one person — it was a team effort, and we structured our collaboration carefully.</a:t>
            </a:r>
          </a:p>
          <a:p>
            <a:r>
              <a:rPr lang="en-GB" dirty="0"/>
              <a:t>We used Git and GitHub throughout the project. With 79 commits across the team, we worked on a single shared repository using a branch-based workflow with pull request reviews — the same professional standard used in industry.</a:t>
            </a:r>
          </a:p>
          <a:p>
            <a:r>
              <a:rPr lang="en-GB" dirty="0"/>
              <a:t>Every sprint was documented through formal Meeting Minutes. We kept agendas, recorded decisions, and tracked action items — ensuring nothing was left to memory.</a:t>
            </a:r>
          </a:p>
          <a:p>
            <a:r>
              <a:rPr lang="en-GB" dirty="0"/>
              <a:t>We also produced a Members Guide to onboard all six team members consistently. This kept everyone aligned on their roles, responsibilities, and how we expected the project to run.</a:t>
            </a:r>
          </a:p>
          <a:p>
            <a:r>
              <a:rPr lang="en-GB" dirty="0"/>
              <a:t>Finally, we used structured Task Tracking — every item had a defined deadline and a named responsible member. This gave us clear ownership and helped us deliver on time.</a:t>
            </a:r>
          </a:p>
          <a:p>
            <a:r>
              <a:rPr lang="en-GB" dirty="0"/>
              <a:t>In short, we didn't just build a game — we ran this project the way a real software team would.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858000" y="27432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2700000">
            <a:off x="8046720" y="109728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 rot="2700000">
            <a:off x="8412480" y="9144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rot="2700000">
            <a:off x="6400800" y="182880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rot="2700000">
            <a:off x="8686800" y="256032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rot="2700000">
            <a:off x="7315200" y="320040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FFC72C">
              <a:alpha val="8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3605731"/>
            <a:ext cx="3840480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3572" y="3664379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Cyber-Smart Gaming for Education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3572" y="4058359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Coventry University  ·  503IT  ·  Team Hexa  ·  6 Members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  ·  JUNE 2026  ·  15 MINUTES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E8D5E6D-9723-BC94-61C0-C6CB24A5F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64" y="124762"/>
            <a:ext cx="3034862" cy="30587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Danger Is Rising.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Awareness Isn't.</a:t>
            </a:r>
            <a:endParaRPr lang="en-US" sz="4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1FF08B-F6DF-F0E9-B216-FD83EDBCAAA4}"/>
              </a:ext>
            </a:extLst>
          </p:cNvPr>
          <p:cNvGrpSpPr/>
          <p:nvPr/>
        </p:nvGrpSpPr>
        <p:grpSpPr>
          <a:xfrm>
            <a:off x="3383280" y="2286000"/>
            <a:ext cx="2743200" cy="2286000"/>
            <a:chOff x="3383280" y="2286000"/>
            <a:chExt cx="2743200" cy="2286000"/>
          </a:xfrm>
        </p:grpSpPr>
        <p:sp>
          <p:nvSpPr>
            <p:cNvPr id="10" name="Shape 8"/>
            <p:cNvSpPr/>
            <p:nvPr/>
          </p:nvSpPr>
          <p:spPr>
            <a:xfrm>
              <a:off x="3383280" y="2286000"/>
              <a:ext cx="2743200" cy="2286000"/>
            </a:xfrm>
            <a:prstGeom prst="rect">
              <a:avLst/>
            </a:prstGeom>
            <a:solidFill>
              <a:srgbClr val="1A1A2E"/>
            </a:solidFill>
            <a:ln w="19050">
              <a:solidFill>
                <a:srgbClr val="FFC72C"/>
              </a:solidFill>
              <a:prstDash val="solid"/>
            </a:ln>
            <a:effectLst>
              <a:outerShdw blurRad="1524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Shape 9"/>
            <p:cNvSpPr/>
            <p:nvPr/>
          </p:nvSpPr>
          <p:spPr>
            <a:xfrm>
              <a:off x="3383280" y="2286000"/>
              <a:ext cx="2743200" cy="54864"/>
            </a:xfrm>
            <a:prstGeom prst="rect">
              <a:avLst/>
            </a:prstGeom>
            <a:solidFill>
              <a:srgbClr val="FFC72C"/>
            </a:solidFill>
            <a:ln w="12700">
              <a:solidFill>
                <a:srgbClr val="FFC72C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10"/>
            <p:cNvSpPr/>
            <p:nvPr/>
          </p:nvSpPr>
          <p:spPr>
            <a:xfrm>
              <a:off x="3474720" y="2423160"/>
              <a:ext cx="2560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4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30%</a:t>
              </a:r>
              <a:endParaRPr lang="en-US" sz="4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74720" y="3291840"/>
              <a:ext cx="256032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receive regular online</a:t>
              </a:r>
              <a:endParaRPr lang="en-US" sz="1200" dirty="0"/>
            </a:p>
            <a:p>
              <a:pPr algn="ctr"/>
              <a:r>
                <a:rPr lang="en-US" sz="12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safety education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0FE32C-B8BF-968E-BDB2-704D3B5FF0D2}"/>
              </a:ext>
            </a:extLst>
          </p:cNvPr>
          <p:cNvGrpSpPr/>
          <p:nvPr/>
        </p:nvGrpSpPr>
        <p:grpSpPr>
          <a:xfrm>
            <a:off x="6309360" y="2286000"/>
            <a:ext cx="2743200" cy="2286000"/>
            <a:chOff x="6309360" y="2286000"/>
            <a:chExt cx="2743200" cy="2286000"/>
          </a:xfrm>
        </p:grpSpPr>
        <p:sp>
          <p:nvSpPr>
            <p:cNvPr id="14" name="Shape 12"/>
            <p:cNvSpPr/>
            <p:nvPr/>
          </p:nvSpPr>
          <p:spPr>
            <a:xfrm>
              <a:off x="6309360" y="2286000"/>
              <a:ext cx="2743200" cy="2286000"/>
            </a:xfrm>
            <a:prstGeom prst="rect">
              <a:avLst/>
            </a:prstGeom>
            <a:solidFill>
              <a:srgbClr val="1A1A2E"/>
            </a:solidFill>
            <a:ln w="19050">
              <a:solidFill>
                <a:srgbClr val="FFD966"/>
              </a:solidFill>
              <a:prstDash val="solid"/>
            </a:ln>
            <a:effectLst>
              <a:outerShdw blurRad="1524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Shape 13"/>
            <p:cNvSpPr/>
            <p:nvPr/>
          </p:nvSpPr>
          <p:spPr>
            <a:xfrm>
              <a:off x="6309360" y="2286000"/>
              <a:ext cx="2743200" cy="54864"/>
            </a:xfrm>
            <a:prstGeom prst="rect">
              <a:avLst/>
            </a:prstGeom>
            <a:solidFill>
              <a:srgbClr val="FFD966"/>
            </a:solidFill>
            <a:ln w="12700">
              <a:solidFill>
                <a:srgbClr val="FFD966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 14"/>
            <p:cNvSpPr/>
            <p:nvPr/>
          </p:nvSpPr>
          <p:spPr>
            <a:xfrm>
              <a:off x="6400800" y="2423160"/>
              <a:ext cx="2560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400" b="1" dirty="0">
                  <a:solidFill>
                    <a:srgbClr val="14B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14–15</a:t>
              </a:r>
              <a:endParaRPr lang="en-US" sz="4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400800" y="3291840"/>
              <a:ext cx="256032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age for</a:t>
              </a:r>
              <a:endParaRPr lang="en-US" sz="1200" dirty="0"/>
            </a:p>
            <a:p>
              <a:pPr algn="ctr"/>
              <a:r>
                <a:rPr lang="en-US" sz="12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cyberbullying (38%)</a:t>
              </a:r>
              <a:endParaRPr lang="en-US" sz="12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MEMBER 1</a:t>
            </a:r>
            <a:endParaRPr lang="en-US" sz="9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96F9A1-DC24-77E9-B676-2A424C06A21B}"/>
              </a:ext>
            </a:extLst>
          </p:cNvPr>
          <p:cNvGrpSpPr/>
          <p:nvPr/>
        </p:nvGrpSpPr>
        <p:grpSpPr>
          <a:xfrm>
            <a:off x="457200" y="2286000"/>
            <a:ext cx="2743200" cy="2340864"/>
            <a:chOff x="457200" y="2286000"/>
            <a:chExt cx="2743200" cy="2340864"/>
          </a:xfrm>
        </p:grpSpPr>
        <p:sp>
          <p:nvSpPr>
            <p:cNvPr id="6" name="Shape 4"/>
            <p:cNvSpPr/>
            <p:nvPr/>
          </p:nvSpPr>
          <p:spPr>
            <a:xfrm>
              <a:off x="457200" y="2340864"/>
              <a:ext cx="2743200" cy="2286000"/>
            </a:xfrm>
            <a:prstGeom prst="rect">
              <a:avLst/>
            </a:prstGeom>
            <a:solidFill>
              <a:srgbClr val="1A1A2E"/>
            </a:solidFill>
            <a:ln w="19050">
              <a:solidFill>
                <a:srgbClr val="FFC72C"/>
              </a:solidFill>
              <a:prstDash val="solid"/>
            </a:ln>
            <a:effectLst>
              <a:outerShdw blurRad="1524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Shape 5"/>
            <p:cNvSpPr/>
            <p:nvPr/>
          </p:nvSpPr>
          <p:spPr>
            <a:xfrm>
              <a:off x="457200" y="2286000"/>
              <a:ext cx="2743200" cy="54864"/>
            </a:xfrm>
            <a:prstGeom prst="rect">
              <a:avLst/>
            </a:prstGeom>
            <a:solidFill>
              <a:srgbClr val="FFC72C"/>
            </a:solidFill>
            <a:ln w="12700">
              <a:solidFill>
                <a:srgbClr val="FFC72C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308B7C33-ACE1-75D0-8BF9-C1621BE3AEB8}"/>
                </a:ext>
              </a:extLst>
            </p:cNvPr>
            <p:cNvSpPr/>
            <p:nvPr/>
          </p:nvSpPr>
          <p:spPr>
            <a:xfrm>
              <a:off x="915977" y="2415159"/>
              <a:ext cx="1920240" cy="930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4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77%</a:t>
              </a:r>
              <a:endParaRPr lang="en-US" sz="4400" dirty="0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BF8C67B3-370A-0812-7332-EB9FF2C32F2D}"/>
                </a:ext>
              </a:extLst>
            </p:cNvPr>
            <p:cNvSpPr/>
            <p:nvPr/>
          </p:nvSpPr>
          <p:spPr>
            <a:xfrm>
              <a:off x="1007417" y="3429000"/>
              <a:ext cx="1737360" cy="7104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 children experienced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online harm (Ofcom 2024)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Hexa.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solidFill>
            <a:srgbClr val="FFC72C">
              <a:alpha val="7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3346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Scenarios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56032" cy="256032"/>
          </a:xfrm>
          <a:prstGeom prst="rect">
            <a:avLst/>
          </a:prstGeom>
          <a:solidFill>
            <a:srgbClr val="FFC72C">
              <a:alpha val="7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3666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 Groups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256032" cy="256032"/>
          </a:xfrm>
          <a:prstGeom prst="rect">
            <a:avLst/>
          </a:prstGeom>
          <a:solidFill>
            <a:srgbClr val="FFD966">
              <a:alpha val="70000"/>
            </a:srgbClr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3986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256032" cy="256032"/>
          </a:xfrm>
          <a:prstGeom prst="rect">
            <a:avLst/>
          </a:prstGeom>
          <a:solidFill>
            <a:srgbClr val="AAAAAA">
              <a:alpha val="70000"/>
            </a:srgbClr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4306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MEMBER 2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3D381C-7725-D485-77A9-364CBF3D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032093"/>
            <a:ext cx="4757767" cy="30443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MEMBER 2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9A39F14-2203-6149-A2D9-6897C9E16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3"/>
            <a:ext cx="9144000" cy="4837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90" y="218866"/>
            <a:ext cx="1645920" cy="256032"/>
          </a:xfrm>
          <a:prstGeom prst="rect">
            <a:avLst/>
          </a:prstGeom>
          <a:solidFill>
            <a:srgbClr val="FFD96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by Deciding.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8854" y="1608164"/>
            <a:ext cx="347472" cy="34747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8854" y="16264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1774" y="16081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Scenario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1774" y="18641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suspicious email,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risky login, a social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moment.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8854" y="2412836"/>
            <a:ext cx="347472" cy="34747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8854" y="243112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1774" y="24128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Choice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1774" y="26688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realistic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options.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8854" y="3217508"/>
            <a:ext cx="347472" cy="34747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8854" y="323579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1774" y="32175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1774" y="34735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consequence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explanation.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8854" y="4022180"/>
            <a:ext cx="347472" cy="34747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18854" y="40404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1774" y="40221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1774" y="42782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to reinforce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behaviour.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71433" y="3473540"/>
            <a:ext cx="4572000" cy="2011680"/>
          </a:xfrm>
          <a:prstGeom prst="rect">
            <a:avLst/>
          </a:prstGeom>
          <a:solidFill>
            <a:srgbClr val="0F0F1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  ·  MEMBER 3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00DD4CE-F570-C3A7-EB50-F36B6650F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008" y="604269"/>
            <a:ext cx="5620420" cy="3002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D96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FOR EVERYONE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Game.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Audiences.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97480" cy="2743200"/>
          </a:xfrm>
          <a:prstGeom prst="rect">
            <a:avLst/>
          </a:prstGeom>
          <a:solidFill>
            <a:srgbClr val="0F0F0F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CHILDREN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" y="32186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internet 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36758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41330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4133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online dangers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103120"/>
            <a:ext cx="2697480" cy="2743200"/>
          </a:xfrm>
          <a:prstGeom prst="rect">
            <a:avLst/>
          </a:prstGeom>
          <a:solidFill>
            <a:srgbClr val="0F0F1A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337560" y="2103120"/>
            <a:ext cx="269748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2900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🏙️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2900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TEENS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02152" y="3218688"/>
            <a:ext cx="73152" cy="219456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657600" y="3218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safety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02152" y="3675888"/>
            <a:ext cx="73152" cy="219456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0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02152" y="4133088"/>
            <a:ext cx="73152" cy="219456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0" y="4133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digital privacy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2697480" cy="27432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217920" y="210312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0936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0936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ADULTS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2512" y="32186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537960" y="3218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security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82512" y="36758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537960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scams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82512" y="41330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537960" y="4133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&amp; data protection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  ·  MEMBER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BUILT IT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in the Open.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7452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E34C2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874520" cy="54864"/>
          </a:xfrm>
          <a:prstGeom prst="rect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4C26"/>
                </a:solidFill>
                <a:latin typeface="Arial Black" pitchFamily="34" charset="0"/>
              </a:rPr>
              <a:t>React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24764" y="23088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scenarios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508760"/>
            <a:ext cx="187452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264DE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514600" y="1508760"/>
            <a:ext cx="1874520" cy="54864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age-themed 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187452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7DF1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1874520" cy="5486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2212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logic, scoring, feedback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1508760"/>
            <a:ext cx="187452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3776AB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629400" y="1508760"/>
            <a:ext cx="1874520" cy="5486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720840" y="2212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tooling &amp;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8412480" cy="219456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1280160" cy="219456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2920" y="2990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  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0" y="2971800"/>
            <a:ext cx="1280160" cy="219456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874520" y="2990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  ×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0" y="2971800"/>
            <a:ext cx="1280160" cy="219456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246120" y="2990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  ×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4048" y="32186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58368" y="3218688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React, { useState } from 'react';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4048" y="337413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58368" y="3374136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scenarios } from './data/scenarios';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4048" y="3529584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58368" y="3529584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4048" y="368503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58368" y="3685032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HexaQuiz() {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4048" y="384048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58368" y="3840480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[score, setScore] = useState(0);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84048" y="39959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58368" y="3995928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[current, setCurrent] = useState(0);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84048" y="415137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58368" y="4151376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Handle player choice &amp; feedback logic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4048" y="4306824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58368" y="4306824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handleAnswer = (choice) =&gt; {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4048" y="44622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58368" y="4462272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(choice.correct) setScore(s =&gt; s + 1);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4  ·  MEMBER 4</a:t>
            </a:r>
            <a:endParaRPr lang="en-US" sz="900" dirty="0"/>
          </a:p>
        </p:txBody>
      </p:sp>
      <p:pic>
        <p:nvPicPr>
          <p:cNvPr id="1026" name="Picture 2" descr="5 Best Frameworks For Web Development">
            <a:extLst>
              <a:ext uri="{FF2B5EF4-FFF2-40B4-BE49-F238E27FC236}">
                <a16:creationId xmlns:a16="http://schemas.microsoft.com/office/drawing/2014/main" id="{5CD0E924-B8DB-C7DC-0612-33DE04669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1586839"/>
            <a:ext cx="1515872" cy="85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SS3 Logo PNG Transparent – Brands Logos">
            <a:extLst>
              <a:ext uri="{FF2B5EF4-FFF2-40B4-BE49-F238E27FC236}">
                <a16:creationId xmlns:a16="http://schemas.microsoft.com/office/drawing/2014/main" id="{F1464642-ED0D-BBB7-F16E-C417E17BB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026" y="1553850"/>
            <a:ext cx="885667" cy="885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AutoShape 8" descr="ABOUT ME">
            <a:extLst>
              <a:ext uri="{FF2B5EF4-FFF2-40B4-BE49-F238E27FC236}">
                <a16:creationId xmlns:a16="http://schemas.microsoft.com/office/drawing/2014/main" id="{9E672005-3DB0-F734-CCDC-400698B3A9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8" name="Picture 14" descr="Here's How You can Check if Element Exists in List in Python">
            <a:extLst>
              <a:ext uri="{FF2B5EF4-FFF2-40B4-BE49-F238E27FC236}">
                <a16:creationId xmlns:a16="http://schemas.microsoft.com/office/drawing/2014/main" id="{B028DCFB-3977-B579-4488-E230C639E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346" y="1499662"/>
            <a:ext cx="1735134" cy="97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avascript Logo, AngularJS, Nodejs, Computer Programming, Web ...">
            <a:extLst>
              <a:ext uri="{FF2B5EF4-FFF2-40B4-BE49-F238E27FC236}">
                <a16:creationId xmlns:a16="http://schemas.microsoft.com/office/drawing/2014/main" id="{53F862EE-1EBC-B8F0-4E52-C422717A4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330" y="1593608"/>
            <a:ext cx="711915" cy="80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Together,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Open.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393192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11480" y="2103120"/>
            <a:ext cx="64008" cy="1234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C72C"/>
                </a:solidFill>
              </a:rPr>
              <a:t>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commits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repo, branch-based workflow, pull request reviews.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103120"/>
            <a:ext cx="393192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617720" y="2103120"/>
            <a:ext cx="64008" cy="1234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C72C"/>
                </a:solidFill>
              </a:rPr>
              <a:t>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9496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27249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agendas, decisions, and action plans on file.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520440"/>
            <a:ext cx="393192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11480" y="3520440"/>
            <a:ext cx="64008" cy="123444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943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D966"/>
                </a:solidFill>
              </a:rPr>
              <a:t>📖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Guide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904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members aligned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document keeping the whole team in sync.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520440"/>
            <a:ext cx="393192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617720" y="3520440"/>
            <a:ext cx="64008" cy="1234440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0060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A800"/>
                </a:solidFill>
              </a:rPr>
              <a:t>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94960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904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1422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deadlines and responsible members for every item.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4  ·  MEMBER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Listened.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Then We Improved.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01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prototypes trialled with real players across all three age groups.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011680" cy="2377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0116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377440"/>
            <a:ext cx="2011680" cy="2377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606040" y="2377440"/>
            <a:ext cx="201168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9748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9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69748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full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unaided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377440"/>
            <a:ext cx="2011680" cy="2377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20116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4632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4.3★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4632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the game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and clear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377440"/>
            <a:ext cx="2011680" cy="237744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903720" y="2377440"/>
            <a:ext cx="201168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99516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99516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iteration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5  ·  MEMBER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ACCESSIBILITY &amp; INCLUSION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for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Everyone.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4008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C72C"/>
                </a:solidFill>
              </a:rPr>
              <a:t>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61872" y="2066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Colours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buttons meet readability guidance against the dark theme.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64008" cy="6400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D966"/>
                </a:solidFill>
              </a:rPr>
              <a:t>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61872" y="27980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Friendly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quiz options reachable and selectable without a mouse.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64008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C72C"/>
                </a:solidFill>
              </a:rPr>
              <a:t>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61872" y="3529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Age-Tuned Language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matched to each audience — no jargon for younger players.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64008" cy="640080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A800"/>
                </a:solidFill>
              </a:rPr>
              <a:t>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61872" y="4261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61872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and lightweight — no powerful device required.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371600"/>
            <a:ext cx="2834640" cy="347472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943600" y="1371600"/>
            <a:ext cx="283464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0350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Changed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9320" y="1874520"/>
            <a:ext cx="182880" cy="1828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263640" y="1874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Wording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21305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Re-wrote children's questions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plainer language.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2880360"/>
            <a:ext cx="182880" cy="1828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263640" y="2880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Feedback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1363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'why' explanation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answer.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9320" y="3886200"/>
            <a:ext cx="182880" cy="1828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263640" y="3886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Tap Targets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41422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Enlarged buttons for easier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 touch screens.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5  ·  MEMBER 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Members.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Solution.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594360" cy="594360"/>
          </a:xfrm>
          <a:prstGeom prst="ellipse">
            <a:avLst/>
          </a:prstGeom>
          <a:solidFill>
            <a:srgbClr val="FFC72C">
              <a:alpha val="80000"/>
            </a:srgbClr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Bhandari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10312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83280" y="2176272"/>
            <a:ext cx="594360" cy="594360"/>
          </a:xfrm>
          <a:prstGeom prst="ellipse">
            <a:avLst/>
          </a:prstGeom>
          <a:solidFill>
            <a:srgbClr val="FFC72C">
              <a:alpha val="80000"/>
            </a:srgbClr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83280" y="221284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87368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 Jung Shah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87368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8" name="Shape 16"/>
          <p:cNvSpPr/>
          <p:nvPr/>
        </p:nvSpPr>
        <p:spPr>
          <a:xfrm>
            <a:off x="6126480" y="2011680"/>
            <a:ext cx="269748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263640" y="2176272"/>
            <a:ext cx="594360" cy="594360"/>
          </a:xfrm>
          <a:prstGeom prst="ellipse">
            <a:avLst/>
          </a:prstGeom>
          <a:solidFill>
            <a:srgbClr val="FFD966">
              <a:alpha val="80000"/>
            </a:srgbClr>
          </a:solidFill>
          <a:ln w="1905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67728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Badhurdeen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269748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02920" y="3639312"/>
            <a:ext cx="594360" cy="594360"/>
          </a:xfrm>
          <a:prstGeom prst="ellipse">
            <a:avLst/>
          </a:prstGeom>
          <a:solidFill>
            <a:srgbClr val="E6A800">
              <a:alpha val="80000"/>
            </a:srgbClr>
          </a:solidFill>
          <a:ln w="1905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3639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Sijan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Bhandhari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3977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Scenarios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47472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246120" y="347472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383280" y="3639312"/>
            <a:ext cx="594360" cy="594360"/>
          </a:xfrm>
          <a:prstGeom prst="ellipse">
            <a:avLst/>
          </a:prstGeom>
          <a:solidFill>
            <a:srgbClr val="FFC72C">
              <a:alpha val="80000"/>
            </a:srgbClr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383280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87368" y="3639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Jimee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87368" y="3977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47472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126480" y="3474720"/>
            <a:ext cx="269748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263640" y="3639312"/>
            <a:ext cx="594360" cy="594360"/>
          </a:xfrm>
          <a:prstGeom prst="ellipse">
            <a:avLst/>
          </a:prstGeom>
          <a:solidFill>
            <a:srgbClr val="E6A800">
              <a:alpha val="80000"/>
            </a:srgbClr>
          </a:solidFill>
          <a:ln w="1905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263640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67728" y="3639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Nabin Sunar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67728" y="3977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Comms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6  ·  MEMBER 6</a:t>
            </a:r>
            <a:endParaRPr lang="en-US" sz="900" dirty="0"/>
          </a:p>
        </p:txBody>
      </p:sp>
      <p:sp>
        <p:nvSpPr>
          <p:cNvPr id="43" name="Text 20"/>
          <p:cNvSpPr/>
          <p:nvPr/>
        </p:nvSpPr>
        <p:spPr>
          <a:xfrm>
            <a:off x="4114800" y="2478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</a:t>
            </a:r>
            <a:endParaRPr lang="en-US" sz="10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191FE308-0C80-E72E-887F-08D2960F2E51}"/>
              </a:ext>
            </a:extLst>
          </p:cNvPr>
          <p:cNvSpPr/>
          <p:nvPr/>
        </p:nvSpPr>
        <p:spPr>
          <a:xfrm>
            <a:off x="6995160" y="2459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Comes Next.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176272"/>
            <a:ext cx="7680960" cy="0"/>
          </a:xfrm>
          <a:prstGeom prst="line">
            <a:avLst/>
          </a:prstGeom>
          <a:noFill/>
          <a:ln w="25400">
            <a:solidFill>
              <a:srgbClr val="FFC72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1993392"/>
            <a:ext cx="365760" cy="3657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1920240" cy="21488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92024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Release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Coventry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network.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993392"/>
            <a:ext cx="365760" cy="365760"/>
          </a:xfrm>
          <a:prstGeom prst="ellipse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651760" y="2487168"/>
            <a:ext cx="1920240" cy="21488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651760" y="2487168"/>
            <a:ext cx="192024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69748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D9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School Pilots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schools.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1993392"/>
            <a:ext cx="365760" cy="3657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54880" y="2487168"/>
            <a:ext cx="1920240" cy="21488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192024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0060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analytics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1993392"/>
            <a:ext cx="365760" cy="365760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858000" y="2487168"/>
            <a:ext cx="1920240" cy="214884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858000" y="2487168"/>
            <a:ext cx="192024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90372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6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scenarios,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 tracks.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6  ·  MEMBER 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rot="2700000">
            <a:off x="7315200" y="18288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rot="2700000">
            <a:off x="7955280" y="100584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rot="2700000">
            <a:off x="6858000" y="164592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 rot="2700000">
            <a:off x="8229600" y="228600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 rot="2700000">
            <a:off x="7589520" y="310896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 rot="2700000">
            <a:off x="7132320" y="384048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411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FC72C"/>
                </a:solidFill>
              </a:rPr>
              <a:t>⬡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HEXA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Cyber-Smart Gaming for Education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572000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·  Team Hexa  ·  Coventry University  ·  503IT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COVENTRY UNIVERSITY  ·  503IT  ·  COMMUNICATION &amp; COLLABORATION  ·  JUNE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cf20c6-c6ca-4b6e-9555-84962ccd8b6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7FE83D6630D843B4C8DC56C0484B18" ma:contentTypeVersion="11" ma:contentTypeDescription="Create a new document." ma:contentTypeScope="" ma:versionID="d42fef486da5cd9c92e0612361fa4ded">
  <xsd:schema xmlns:xsd="http://www.w3.org/2001/XMLSchema" xmlns:xs="http://www.w3.org/2001/XMLSchema" xmlns:p="http://schemas.microsoft.com/office/2006/metadata/properties" xmlns:ns3="2dcf20c6-c6ca-4b6e-9555-84962ccd8b66" targetNamespace="http://schemas.microsoft.com/office/2006/metadata/properties" ma:root="true" ma:fieldsID="6cbb21c96ba3699644f38b83e1583a0b" ns3:_="">
    <xsd:import namespace="2dcf20c6-c6ca-4b6e-9555-84962ccd8b6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cf20c6-c6ca-4b6e-9555-84962ccd8b6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A2C075-C179-45CB-B8B6-53A09713929E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2dcf20c6-c6ca-4b6e-9555-84962ccd8b6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FD33369-F7F5-465F-B341-6D8B7DF2AB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ACD10F-D476-489A-8E4A-39160425B7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cf20c6-c6ca-4b6e-9555-84962ccd8b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1083</Words>
  <Application>Microsoft Office PowerPoint</Application>
  <PresentationFormat>On-screen Show (16:9)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 – Cyber-Smart Gaming for Education</dc:title>
  <dc:subject>PptxGenJS Presentation</dc:subject>
  <dc:creator>PptxGenJS</dc:creator>
  <cp:lastModifiedBy>ABDHULLAH BADHURDEEN</cp:lastModifiedBy>
  <cp:revision>3</cp:revision>
  <dcterms:created xsi:type="dcterms:W3CDTF">2026-06-03T09:12:25Z</dcterms:created>
  <dcterms:modified xsi:type="dcterms:W3CDTF">2026-06-09T15:59:31Z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0x010100347FE83D6630D843B4C8DC56C0484B18</vt:lpwstr>
  </property>
</Properties>
</file>