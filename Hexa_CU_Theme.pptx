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61FE25-6CF0-4A1F-B462-C2B5D3F80F85}" v="43" dt="2026-06-03T11:36:43.9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2622" autoAdjust="0"/>
  </p:normalViewPr>
  <p:slideViewPr>
    <p:cSldViewPr snapToGrid="0" snapToObjects="1">
      <p:cViewPr varScale="1">
        <p:scale>
          <a:sx n="121" d="100"/>
          <a:sy n="121" d="100"/>
        </p:scale>
        <p:origin x="1314" y="102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DHULLAH BADHURDEEN" userId="38191fa57b5766cf" providerId="LiveId" clId="{7DD2123D-4853-454B-AB2D-0FD32E8814F7}"/>
    <pc:docChg chg="undo custSel modSld">
      <pc:chgData name="ABDHULLAH BADHURDEEN" userId="38191fa57b5766cf" providerId="LiveId" clId="{7DD2123D-4853-454B-AB2D-0FD32E8814F7}" dt="2026-06-03T11:36:43.965" v="56" actId="1076"/>
      <pc:docMkLst>
        <pc:docMk/>
      </pc:docMkLst>
      <pc:sldChg chg="addSp delSp modSp mod">
        <pc:chgData name="ABDHULLAH BADHURDEEN" userId="38191fa57b5766cf" providerId="LiveId" clId="{7DD2123D-4853-454B-AB2D-0FD32E8814F7}" dt="2026-06-03T11:36:43.965" v="56" actId="1076"/>
        <pc:sldMkLst>
          <pc:docMk/>
          <pc:sldMk cId="0" sldId="262"/>
        </pc:sldMkLst>
        <pc:spChg chg="mod">
          <ac:chgData name="ABDHULLAH BADHURDEEN" userId="38191fa57b5766cf" providerId="LiveId" clId="{7DD2123D-4853-454B-AB2D-0FD32E8814F7}" dt="2026-06-03T11:31:11.429" v="4" actId="1076"/>
          <ac:spMkLst>
            <pc:docMk/>
            <pc:sldMk cId="0" sldId="262"/>
            <ac:spMk id="8" creationId="{00000000-0000-0000-0000-000000000000}"/>
          </ac:spMkLst>
        </pc:spChg>
        <pc:spChg chg="del mod">
          <ac:chgData name="ABDHULLAH BADHURDEEN" userId="38191fa57b5766cf" providerId="LiveId" clId="{7DD2123D-4853-454B-AB2D-0FD32E8814F7}" dt="2026-06-03T11:32:22.180" v="16" actId="478"/>
          <ac:spMkLst>
            <pc:docMk/>
            <pc:sldMk cId="0" sldId="262"/>
            <ac:spMk id="11" creationId="{00000000-0000-0000-0000-000000000000}"/>
          </ac:spMkLst>
        </pc:spChg>
        <pc:spChg chg="mod ord">
          <ac:chgData name="ABDHULLAH BADHURDEEN" userId="38191fa57b5766cf" providerId="LiveId" clId="{7DD2123D-4853-454B-AB2D-0FD32E8814F7}" dt="2026-06-03T11:34:31.070" v="3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ABDHULLAH BADHURDEEN" userId="38191fa57b5766cf" providerId="LiveId" clId="{7DD2123D-4853-454B-AB2D-0FD32E8814F7}" dt="2026-06-03T11:35:57.869" v="51" actId="20577"/>
          <ac:spMkLst>
            <pc:docMk/>
            <pc:sldMk cId="0" sldId="262"/>
            <ac:spMk id="15" creationId="{00000000-0000-0000-0000-000000000000}"/>
          </ac:spMkLst>
        </pc:spChg>
        <pc:spChg chg="del mod">
          <ac:chgData name="ABDHULLAH BADHURDEEN" userId="38191fa57b5766cf" providerId="LiveId" clId="{7DD2123D-4853-454B-AB2D-0FD32E8814F7}" dt="2026-06-03T11:35:27.764" v="45" actId="21"/>
          <ac:spMkLst>
            <pc:docMk/>
            <pc:sldMk cId="0" sldId="262"/>
            <ac:spMk id="19" creationId="{00000000-0000-0000-0000-000000000000}"/>
          </ac:spMkLst>
        </pc:spChg>
        <pc:spChg chg="add">
          <ac:chgData name="ABDHULLAH BADHURDEEN" userId="38191fa57b5766cf" providerId="LiveId" clId="{7DD2123D-4853-454B-AB2D-0FD32E8814F7}" dt="2026-06-03T11:32:54.796" v="19"/>
          <ac:spMkLst>
            <pc:docMk/>
            <pc:sldMk cId="0" sldId="262"/>
            <ac:spMk id="49" creationId="{9E672005-3DB0-F734-CCDC-400698B3A9BF}"/>
          </ac:spMkLst>
        </pc:spChg>
        <pc:spChg chg="add mod">
          <ac:chgData name="ABDHULLAH BADHURDEEN" userId="38191fa57b5766cf" providerId="LiveId" clId="{7DD2123D-4853-454B-AB2D-0FD32E8814F7}" dt="2026-06-03T11:34:30.437" v="32"/>
          <ac:spMkLst>
            <pc:docMk/>
            <pc:sldMk cId="0" sldId="262"/>
            <ac:spMk id="50" creationId="{439B32F1-F6F3-FBBC-5656-274C6EF78FA7}"/>
          </ac:spMkLst>
        </pc:spChg>
        <pc:spChg chg="add mod">
          <ac:chgData name="ABDHULLAH BADHURDEEN" userId="38191fa57b5766cf" providerId="LiveId" clId="{7DD2123D-4853-454B-AB2D-0FD32E8814F7}" dt="2026-06-03T11:34:29.347" v="29"/>
          <ac:spMkLst>
            <pc:docMk/>
            <pc:sldMk cId="0" sldId="262"/>
            <ac:spMk id="51" creationId="{ED04A25D-B650-6589-8D55-4C8D0616645B}"/>
          </ac:spMkLst>
        </pc:spChg>
        <pc:picChg chg="add mod">
          <ac:chgData name="ABDHULLAH BADHURDEEN" userId="38191fa57b5766cf" providerId="LiveId" clId="{7DD2123D-4853-454B-AB2D-0FD32E8814F7}" dt="2026-06-03T11:31:04.666" v="3" actId="1076"/>
          <ac:picMkLst>
            <pc:docMk/>
            <pc:sldMk cId="0" sldId="262"/>
            <ac:picMk id="1026" creationId="{5CD0E924-B8DB-C7DC-0612-33DE046696EC}"/>
          </ac:picMkLst>
        </pc:picChg>
        <pc:picChg chg="add mod">
          <ac:chgData name="ABDHULLAH BADHURDEEN" userId="38191fa57b5766cf" providerId="LiveId" clId="{7DD2123D-4853-454B-AB2D-0FD32E8814F7}" dt="2026-06-03T11:31:57.334" v="9" actId="14100"/>
          <ac:picMkLst>
            <pc:docMk/>
            <pc:sldMk cId="0" sldId="262"/>
            <ac:picMk id="1028" creationId="{F6EA20E8-CCBE-E708-061D-143D12631F4A}"/>
          </ac:picMkLst>
        </pc:picChg>
        <pc:picChg chg="add mod">
          <ac:chgData name="ABDHULLAH BADHURDEEN" userId="38191fa57b5766cf" providerId="LiveId" clId="{7DD2123D-4853-454B-AB2D-0FD32E8814F7}" dt="2026-06-03T11:32:28.915" v="18" actId="1076"/>
          <ac:picMkLst>
            <pc:docMk/>
            <pc:sldMk cId="0" sldId="262"/>
            <ac:picMk id="1030" creationId="{F1464642-ED0D-BBB7-F16E-C417E17BBDF5}"/>
          </ac:picMkLst>
        </pc:picChg>
        <pc:picChg chg="add mod">
          <ac:chgData name="ABDHULLAH BADHURDEEN" userId="38191fa57b5766cf" providerId="LiveId" clId="{7DD2123D-4853-454B-AB2D-0FD32E8814F7}" dt="2026-06-03T11:35:47.164" v="49" actId="1076"/>
          <ac:picMkLst>
            <pc:docMk/>
            <pc:sldMk cId="0" sldId="262"/>
            <ac:picMk id="1038" creationId="{B028DCFB-3977-B579-4488-E230C639EED4}"/>
          </ac:picMkLst>
        </pc:picChg>
        <pc:picChg chg="add mod">
          <ac:chgData name="ABDHULLAH BADHURDEEN" userId="38191fa57b5766cf" providerId="LiveId" clId="{7DD2123D-4853-454B-AB2D-0FD32E8814F7}" dt="2026-06-03T11:36:43.965" v="56" actId="1076"/>
          <ac:picMkLst>
            <pc:docMk/>
            <pc:sldMk cId="0" sldId="262"/>
            <ac:picMk id="1040" creationId="{53F862EE-1EBC-B8F0-4E52-C422717A40D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6087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Good [morning/afternoon]. My name is [Member 4], and I'll be walking you through the technology stack we used to build Hexa.</a:t>
            </a:r>
          </a:p>
          <a:p>
            <a:r>
              <a:rPr lang="en-GB" dirty="0"/>
              <a:t>We chose a modern, open-source web stack so the game runs directly in any browser — no downloads, no installations required.</a:t>
            </a:r>
          </a:p>
          <a:p>
            <a:r>
              <a:rPr lang="en-GB" dirty="0"/>
              <a:t>React handles the core structure and all 45 quiz scenarios. It lets us build a dynamic, component-based interface where each age group's content loads cleanly without reloading the page.</a:t>
            </a:r>
          </a:p>
          <a:p>
            <a:r>
              <a:rPr lang="en-GB" dirty="0"/>
              <a:t>CSS manages the responsive layout and the age-themed visual design — so Children, Teens, and Adults each get a distinct look and feel that matches their experience level.</a:t>
            </a:r>
          </a:p>
          <a:p>
            <a:r>
              <a:rPr lang="en-GB" dirty="0"/>
              <a:t>JavaScript powers everything under the hood — the quiz logic, the scoring system, and the instant feedback players receive after every choice.</a:t>
            </a:r>
          </a:p>
          <a:p>
            <a:r>
              <a:rPr lang="en-GB" dirty="0"/>
              <a:t>Python was used for supporting tooling, data preparation, and backend utilities during development.</a:t>
            </a:r>
          </a:p>
          <a:p>
            <a:r>
              <a:rPr lang="en-GB" dirty="0"/>
              <a:t>You can see a snippet of our actual code on screen — this is from </a:t>
            </a:r>
            <a:r>
              <a:rPr lang="en-GB" dirty="0" err="1"/>
              <a:t>App.jsx</a:t>
            </a:r>
            <a:r>
              <a:rPr lang="en-GB" dirty="0"/>
              <a:t>, our main quiz component. It shows real state management using React hooks, demonstrating this was a genuinely built, working application — not a prototype.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Hexa wasn't built by one person — it was a team effort, and we structured our collaboration carefully.</a:t>
            </a:r>
          </a:p>
          <a:p>
            <a:r>
              <a:rPr lang="en-GB" dirty="0"/>
              <a:t>We used Git and GitHub throughout the project. With 79 commits across the team, we worked on a single shared repository using a branch-based workflow with pull request reviews — the same professional standard used in industry.</a:t>
            </a:r>
          </a:p>
          <a:p>
            <a:r>
              <a:rPr lang="en-GB" dirty="0"/>
              <a:t>Every sprint was documented through formal Meeting Minutes. We kept agendas, recorded decisions, and tracked action items — ensuring nothing was left to memory.</a:t>
            </a:r>
          </a:p>
          <a:p>
            <a:r>
              <a:rPr lang="en-GB" dirty="0"/>
              <a:t>We also produced a Members Guide to onboard all six team members consistently. This kept everyone aligned on their roles, responsibilities, and how we expected the project to run.</a:t>
            </a:r>
          </a:p>
          <a:p>
            <a:r>
              <a:rPr lang="en-GB" dirty="0"/>
              <a:t>Finally, we used structured Task Tracking — every item had a defined deadline and a named responsible member. This gave us clear ownership and helped us deliver on time.</a:t>
            </a:r>
          </a:p>
          <a:p>
            <a:r>
              <a:rPr lang="en-GB" dirty="0"/>
              <a:t>In short, we didn't just build a game — we ran this project the way a real software team would.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6858000" y="27432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 rot="2700000">
            <a:off x="8046720" y="109728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 rot="2700000">
            <a:off x="8412480" y="9144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rot="2700000">
            <a:off x="6400800" y="182880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rot="2700000">
            <a:off x="8686800" y="256032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rot="2700000">
            <a:off x="7315200" y="320040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498080" y="0"/>
            <a:ext cx="1645920" cy="5143500"/>
          </a:xfrm>
          <a:prstGeom prst="rect">
            <a:avLst/>
          </a:prstGeom>
          <a:solidFill>
            <a:srgbClr val="FFC72C">
              <a:alpha val="8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rot="2700000">
            <a:off x="457200" y="548640"/>
            <a:ext cx="640080" cy="640080"/>
          </a:xfrm>
          <a:prstGeom prst="rect">
            <a:avLst/>
          </a:prstGeom>
          <a:solidFill>
            <a:srgbClr val="FFC72C">
              <a:alpha val="80000"/>
            </a:srgbClr>
          </a:solidFill>
          <a:ln w="254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38912" y="640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</a:t>
            </a:r>
            <a:endParaRPr lang="en-US" sz="8000" dirty="0"/>
          </a:p>
        </p:txBody>
      </p:sp>
      <p:sp>
        <p:nvSpPr>
          <p:cNvPr id="13" name="Shape 11"/>
          <p:cNvSpPr/>
          <p:nvPr/>
        </p:nvSpPr>
        <p:spPr>
          <a:xfrm>
            <a:off x="274320" y="2633472"/>
            <a:ext cx="3840480" cy="3657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74320" y="27249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Cyber-Smart Gaming for Education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" y="3246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Coventry University  ·  503IT  ·  Team Hexa  ·  6 Members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4572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7432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PRESENTATION  ·  JUNE 2026  ·  15 MINUTES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Danger Is Rising.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Awareness Isn't.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74320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users face phishing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scam attempts online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383280" y="2286000"/>
            <a:ext cx="274320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47472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Low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7472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rate from traditional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leaflets &amp; lectures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309360" y="2286000"/>
            <a:ext cx="274320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40080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exposure before most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cyber education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1  ·  MEMBER 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AAAA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story-driven cyber-security quiz game where players learn by living real online scenarios.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256032" cy="256032"/>
          </a:xfrm>
          <a:prstGeom prst="rect">
            <a:avLst/>
          </a:prstGeom>
          <a:solidFill>
            <a:srgbClr val="FFC72C">
              <a:alpha val="70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33467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Scenarios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56032" cy="256032"/>
          </a:xfrm>
          <a:prstGeom prst="rect">
            <a:avLst/>
          </a:prstGeom>
          <a:solidFill>
            <a:srgbClr val="FFC72C">
              <a:alpha val="70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36667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Age Groups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56032" cy="256032"/>
          </a:xfrm>
          <a:prstGeom prst="rect">
            <a:avLst/>
          </a:prstGeom>
          <a:solidFill>
            <a:srgbClr val="FFD966">
              <a:alpha val="70000"/>
            </a:srgbClr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2960" y="3986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Feedback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256032" cy="256032"/>
          </a:xfrm>
          <a:prstGeom prst="rect">
            <a:avLst/>
          </a:prstGeom>
          <a:solidFill>
            <a:srgbClr val="AAAAAA">
              <a:alpha val="70000"/>
            </a:srgbClr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22960" y="43068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Browser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2  ·  MEMBER 2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3D381C-7725-D485-77A9-364CBF3D8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032093"/>
            <a:ext cx="4757767" cy="30443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2  ·  MEMBER 2</a:t>
            </a:r>
            <a:endParaRPr lang="en-US" sz="9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9A39F14-2203-6149-A2D9-6897C9E16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3"/>
            <a:ext cx="9144000" cy="48373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2590" y="218866"/>
            <a:ext cx="1645920" cy="256032"/>
          </a:xfrm>
          <a:prstGeom prst="rect">
            <a:avLst/>
          </a:prstGeom>
          <a:solidFill>
            <a:srgbClr val="FFD966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 by Deciding.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18854" y="1608164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8854" y="162645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21774" y="16081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Scenario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21774" y="18641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suspicious email,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risky login, a social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moment.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8854" y="2412836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8854" y="243112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21774" y="24128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Choice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21774" y="26688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 realistic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options.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8854" y="3217508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18854" y="323579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1774" y="32175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Feedback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21774" y="34735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consequence +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explanation.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8854" y="4022180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18854" y="404046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1774" y="40221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Habit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1774" y="42782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to reinforce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behaviour.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71433" y="3473540"/>
            <a:ext cx="4572000" cy="2011680"/>
          </a:xfrm>
          <a:prstGeom prst="rect">
            <a:avLst/>
          </a:prstGeom>
          <a:solidFill>
            <a:srgbClr val="0F0F1A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3  ·  MEMBER 3</a:t>
            </a:r>
            <a:endParaRPr lang="en-US" sz="9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00DD4CE-F570-C3A7-EB50-F36B6650F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008" y="604269"/>
            <a:ext cx="5620420" cy="30024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D966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 EVERYONE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Game.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Audiences.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697480" cy="2743200"/>
          </a:xfrm>
          <a:prstGeom prst="rect">
            <a:avLst/>
          </a:prstGeom>
          <a:solidFill>
            <a:srgbClr val="0F0F0F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CHILDREN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" y="32186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7724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internet use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" y="36758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7724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41330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7724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Spotting online dangers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103120"/>
            <a:ext cx="2697480" cy="2743200"/>
          </a:xfrm>
          <a:prstGeom prst="rect">
            <a:avLst/>
          </a:prstGeom>
          <a:solidFill>
            <a:srgbClr val="0F0F1A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37560" y="21031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42900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02152" y="32186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65760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safety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02152" y="36758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Cyberbullying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02152" y="41330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&amp; digital privacy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2103120"/>
            <a:ext cx="2697480" cy="27432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21031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30936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🏢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30936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ADULTS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82512" y="32186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53796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security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82512" y="36758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3796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scams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82512" y="41330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3796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&amp; data protection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3  ·  MEMBER 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WE BUILT IT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in the Open.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E34C2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874520" cy="54864"/>
          </a:xfrm>
          <a:prstGeom prst="rect">
            <a:avLst/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4C26"/>
                </a:solidFill>
                <a:latin typeface="Arial Black" pitchFamily="34" charset="0"/>
              </a:rPr>
              <a:t>React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24764" y="23088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scenarios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264DE4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514600" y="1508760"/>
            <a:ext cx="1874520" cy="54864"/>
          </a:xfrm>
          <a:prstGeom prst="rect">
            <a:avLst/>
          </a:prstGeom>
          <a:solidFill>
            <a:srgbClr val="264DE4"/>
          </a:solidFill>
          <a:ln w="12700">
            <a:solidFill>
              <a:srgbClr val="264D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060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Responsive, age-themed UI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F7DF1E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1508760"/>
            <a:ext cx="1874520" cy="54864"/>
          </a:xfrm>
          <a:prstGeom prst="rect">
            <a:avLst/>
          </a:prstGeom>
          <a:solidFill>
            <a:srgbClr val="F7DF1E"/>
          </a:solidFill>
          <a:ln w="1270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634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634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logic, scoring, feedback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294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3776AB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629400" y="1508760"/>
            <a:ext cx="1874520" cy="54864"/>
          </a:xfrm>
          <a:prstGeom prst="rect">
            <a:avLst/>
          </a:prstGeom>
          <a:solidFill>
            <a:srgbClr val="3776AB"/>
          </a:solidFill>
          <a:ln w="12700">
            <a:solidFill>
              <a:srgbClr val="3776A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7208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tooling &amp; data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971800"/>
            <a:ext cx="841248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" y="2971800"/>
            <a:ext cx="841248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7200" y="2971800"/>
            <a:ext cx="1280160" cy="219456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029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App.jsx  ×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828800" y="2971800"/>
            <a:ext cx="128016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8745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style.css  ×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200400" y="2971800"/>
            <a:ext cx="128016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2461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  ×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4048" y="321868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58368" y="3218688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React, { useState } from 'react';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84048" y="3374136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58368" y="3374136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scenarios } from './data/scenarios';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84048" y="3529584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58368" y="3529584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84048" y="368503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58368" y="3685032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default function HexaQuiz() {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84048" y="384048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58368" y="3840480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[score, setScore] = useState(0);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384048" y="39959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58368" y="3995928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[current, setCurrent] = useState(0);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84048" y="4151376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58368" y="4151376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Handle player choice &amp; feedback logic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84048" y="4306824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58368" y="4306824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handleAnswer = (choice) =&gt; {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84048" y="446227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58368" y="4462272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(choice.correct) setScore(s =&gt; s + 1);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4  ·  MEMBER 4</a:t>
            </a:r>
            <a:endParaRPr lang="en-US" sz="900" dirty="0"/>
          </a:p>
        </p:txBody>
      </p:sp>
      <p:pic>
        <p:nvPicPr>
          <p:cNvPr id="1026" name="Picture 2" descr="5 Best Frameworks For Web Development">
            <a:extLst>
              <a:ext uri="{FF2B5EF4-FFF2-40B4-BE49-F238E27FC236}">
                <a16:creationId xmlns:a16="http://schemas.microsoft.com/office/drawing/2014/main" id="{5CD0E924-B8DB-C7DC-0612-33DE046696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648" y="1586839"/>
            <a:ext cx="1515872" cy="852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SS3 Logo PNG Transparent – Brands Logos">
            <a:extLst>
              <a:ext uri="{FF2B5EF4-FFF2-40B4-BE49-F238E27FC236}">
                <a16:creationId xmlns:a16="http://schemas.microsoft.com/office/drawing/2014/main" id="{F1464642-ED0D-BBB7-F16E-C417E17BB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9026" y="1553850"/>
            <a:ext cx="885667" cy="885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AutoShape 8" descr="ABOUT ME">
            <a:extLst>
              <a:ext uri="{FF2B5EF4-FFF2-40B4-BE49-F238E27FC236}">
                <a16:creationId xmlns:a16="http://schemas.microsoft.com/office/drawing/2014/main" id="{9E672005-3DB0-F734-CCDC-400698B3A9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38" name="Picture 14" descr="Here's How You can Check if Element Exists in List in Python">
            <a:extLst>
              <a:ext uri="{FF2B5EF4-FFF2-40B4-BE49-F238E27FC236}">
                <a16:creationId xmlns:a16="http://schemas.microsoft.com/office/drawing/2014/main" id="{B028DCFB-3977-B579-4488-E230C639E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46" y="1499662"/>
            <a:ext cx="1735134" cy="976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avascript Logo, AngularJS, Nodejs, Computer Programming, Web ...">
            <a:extLst>
              <a:ext uri="{FF2B5EF4-FFF2-40B4-BE49-F238E27FC236}">
                <a16:creationId xmlns:a16="http://schemas.microsoft.com/office/drawing/2014/main" id="{53F862EE-1EBC-B8F0-4E52-C422717A4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330" y="1593608"/>
            <a:ext cx="711915" cy="807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COLLABORATION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Together,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 the Open.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11480" y="210312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11480" y="2103120"/>
            <a:ext cx="64008" cy="123444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C72C"/>
                </a:solidFill>
              </a:rPr>
              <a:t>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88720" y="22128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4871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commits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27249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repo, branch-based workflow, pull request reviews.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210312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64008" cy="123444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800600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C72C"/>
                </a:solidFill>
              </a:rPr>
              <a:t>📋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394960" y="22128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Minutes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4871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sprint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94960" y="27249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agendas, decisions, and action plans on file.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52044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11480" y="3520440"/>
            <a:ext cx="64008" cy="123444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9436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D966"/>
                </a:solidFill>
              </a:rPr>
              <a:t>📖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8872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Guide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88720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members aligned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88720" y="41422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document keeping the whole team in sync.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352044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617720" y="3520440"/>
            <a:ext cx="64008" cy="1234440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80060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6A800"/>
                </a:solidFill>
              </a:rPr>
              <a:t>✅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39496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Tracking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94960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ownership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94960" y="41422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deadlines and responsible members for every item.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4  ·  MEMBER 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USER TESTING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 Listened.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Then We Improved.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9019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prototypes trialled with real players across all three age groups.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20116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606040" y="2377440"/>
            <a:ext cx="201168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9748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92%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69748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a full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unaided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20116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4632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4.3★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84632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the game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 and clear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2377440"/>
            <a:ext cx="20116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99516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3×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699516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of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iteration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5  ·  MEMBER 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ACCESSIBILITY &amp; INCLUSION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64008" cy="64008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C72C"/>
                </a:solidFill>
              </a:rPr>
              <a:t>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61872" y="206654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High-Contrast Colours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61872" y="2331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and buttons meet readability guidance against the dark theme.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64008" cy="6400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D966"/>
                </a:solidFill>
              </a:rPr>
              <a:t>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61872" y="27980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Friendly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6187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quiz options reachable and selectable without a mouse.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64008" cy="64008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40080" y="35661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C72C"/>
                </a:solidFill>
              </a:rPr>
              <a:t>✦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61872" y="35295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Age-Tuned Language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61872" y="3794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Wording matched to each audience — no jargon for younger players.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64008" cy="640080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A800"/>
                </a:solidFill>
              </a:rPr>
              <a:t>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261872" y="42611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61872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and lightweight — no powerful device required.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371600"/>
            <a:ext cx="2834640" cy="347472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943600" y="1371600"/>
            <a:ext cx="283464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035040" y="14630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Users Changed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89320" y="187452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63640" y="18745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Wording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63640" y="2130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Re-wrote children's questions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plainer language.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89320" y="288036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63640" y="2880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Clearer Feedback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31363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'why' explanation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answer.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89320" y="388620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63640" y="3886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Tap Targets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63640" y="414223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Enlarged buttons for easier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 touch screens.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5  ·  MEMBER 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Members.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Solution.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Aaditya Bhandari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07008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1031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46120" y="201168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83280" y="217627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8328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SJS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08736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Sandesh Jung Shah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87368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01168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8" name="Shape 16"/>
          <p:cNvSpPr/>
          <p:nvPr/>
        </p:nvSpPr>
        <p:spPr>
          <a:xfrm>
            <a:off x="6126480" y="2011680"/>
            <a:ext cx="269748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63640" y="2176272"/>
            <a:ext cx="594360" cy="594360"/>
          </a:xfrm>
          <a:prstGeom prst="ellipse">
            <a:avLst/>
          </a:prstGeom>
          <a:solidFill>
            <a:srgbClr val="FFD966">
              <a:alpha val="80000"/>
            </a:srgbClr>
          </a:solidFill>
          <a:ln w="1905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26364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6772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Badhurdeen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65760" y="34747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2920" y="3639312"/>
            <a:ext cx="594360" cy="594360"/>
          </a:xfrm>
          <a:prstGeom prst="ellipse">
            <a:avLst/>
          </a:prstGeom>
          <a:solidFill>
            <a:srgbClr val="E6A800">
              <a:alpha val="80000"/>
            </a:srgbClr>
          </a:solidFill>
          <a:ln w="1905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0292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Sijan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Bhandhari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0700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Scenarios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4612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246120" y="34747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383280" y="363931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38328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8736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Jimee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8736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2648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126480" y="34747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263640" y="3639312"/>
            <a:ext cx="594360" cy="594360"/>
          </a:xfrm>
          <a:prstGeom prst="ellipse">
            <a:avLst/>
          </a:prstGeom>
          <a:solidFill>
            <a:srgbClr val="E6A800">
              <a:alpha val="80000"/>
            </a:srgbClr>
          </a:solidFill>
          <a:ln w="1905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26364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96772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Nabin Sunar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772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Comms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6  ·  MEMBER 6</a:t>
            </a:r>
            <a:endParaRPr lang="en-US" sz="900" dirty="0"/>
          </a:p>
        </p:txBody>
      </p:sp>
      <p:sp>
        <p:nvSpPr>
          <p:cNvPr id="43" name="Text 20"/>
          <p:cNvSpPr/>
          <p:nvPr/>
        </p:nvSpPr>
        <p:spPr>
          <a:xfrm>
            <a:off x="4114800" y="2478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Design</a:t>
            </a:r>
            <a:endParaRPr lang="en-US" sz="10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191FE308-0C80-E72E-887F-08D2960F2E51}"/>
              </a:ext>
            </a:extLst>
          </p:cNvPr>
          <p:cNvSpPr/>
          <p:nvPr/>
        </p:nvSpPr>
        <p:spPr>
          <a:xfrm>
            <a:off x="6995160" y="24597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Comes Next.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2176272"/>
            <a:ext cx="7680960" cy="0"/>
          </a:xfrm>
          <a:prstGeom prst="line">
            <a:avLst/>
          </a:prstGeom>
          <a:noFill/>
          <a:ln w="25400">
            <a:solidFill>
              <a:srgbClr val="FFC72C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43000" y="1993392"/>
            <a:ext cx="365760" cy="3657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92024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9436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Public Release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Coventry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network.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993392"/>
            <a:ext cx="365760" cy="365760"/>
          </a:xfrm>
          <a:prstGeom prst="ellipse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65176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651760" y="2487168"/>
            <a:ext cx="192024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69748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Q3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School Pilots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9748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local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schools.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49240" y="1993392"/>
            <a:ext cx="365760" cy="3657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5488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754880" y="2487168"/>
            <a:ext cx="192024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80060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Q4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0060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analytics &amp;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tracking.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1993392"/>
            <a:ext cx="365760" cy="365760"/>
          </a:xfrm>
          <a:prstGeom prst="ellipse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85800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858000" y="2487168"/>
            <a:ext cx="192024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90372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2027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0372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Expansion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0372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scenarios,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 tracks.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6  ·  MEMBER 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rot="2700000">
            <a:off x="7315200" y="18288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rot="2700000">
            <a:off x="7955280" y="100584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rot="2700000">
            <a:off x="6858000" y="164592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rot="2700000">
            <a:off x="8229600" y="228600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 rot="2700000">
            <a:off x="7589520" y="310896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rot="2700000">
            <a:off x="7132320" y="384048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7200" y="411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FFC72C"/>
                </a:solidFill>
              </a:rPr>
              <a:t>⬡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5720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457200" y="2240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Cyber-Smart Gaming for Education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4572000" cy="3657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572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you.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7200" y="36393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 ·  Team Hexa  ·  Coventry University  ·  503IT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0000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0" y="4754880"/>
            <a:ext cx="9144000" cy="4572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COVENTRY UNIVERSITY  ·  503IT  ·  COMMUNICATION &amp; COLLABORATION  ·  JUNE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7FE83D6630D843B4C8DC56C0484B18" ma:contentTypeVersion="11" ma:contentTypeDescription="Create a new document." ma:contentTypeScope="" ma:versionID="d42fef486da5cd9c92e0612361fa4ded">
  <xsd:schema xmlns:xsd="http://www.w3.org/2001/XMLSchema" xmlns:xs="http://www.w3.org/2001/XMLSchema" xmlns:p="http://schemas.microsoft.com/office/2006/metadata/properties" xmlns:ns3="2dcf20c6-c6ca-4b6e-9555-84962ccd8b66" targetNamespace="http://schemas.microsoft.com/office/2006/metadata/properties" ma:root="true" ma:fieldsID="6cbb21c96ba3699644f38b83e1583a0b" ns3:_="">
    <xsd:import namespace="2dcf20c6-c6ca-4b6e-9555-84962ccd8b6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cf20c6-c6ca-4b6e-9555-84962ccd8b6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dcf20c6-c6ca-4b6e-9555-84962ccd8b66" xsi:nil="true"/>
  </documentManagement>
</p:properties>
</file>

<file path=customXml/itemProps1.xml><?xml version="1.0" encoding="utf-8"?>
<ds:datastoreItem xmlns:ds="http://schemas.openxmlformats.org/officeDocument/2006/customXml" ds:itemID="{D1ACD10F-D476-489A-8E4A-39160425B7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cf20c6-c6ca-4b6e-9555-84962ccd8b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D33369-F7F5-465F-B341-6D8B7DF2AB7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A2C075-C179-45CB-B8B6-53A09713929E}">
  <ds:schemaRefs>
    <ds:schemaRef ds:uri="http://www.w3.org/XML/1998/namespace"/>
    <ds:schemaRef ds:uri="http://purl.org/dc/elements/1.1/"/>
    <ds:schemaRef ds:uri="http://purl.org/dc/dcmitype/"/>
    <ds:schemaRef ds:uri="http://schemas.openxmlformats.org/package/2006/metadata/core-properties"/>
    <ds:schemaRef ds:uri="http://purl.org/dc/terms/"/>
    <ds:schemaRef ds:uri="http://schemas.microsoft.com/office/2006/metadata/properties"/>
    <ds:schemaRef ds:uri="http://schemas.microsoft.com/office/2006/documentManagement/types"/>
    <ds:schemaRef ds:uri="2dcf20c6-c6ca-4b6e-9555-84962ccd8b66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1099</Words>
  <Application>Microsoft Office PowerPoint</Application>
  <PresentationFormat>On-screen Show (16:9)</PresentationFormat>
  <Paragraphs>231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Hexa – Cyber-Smart Gaming for Education</dc:title>
  <dc:subject>PptxGenJS Presentation</dc:subject>
  <dc:creator>PptxGenJS</dc:creator>
  <cp:lastModifiedBy>ABDHULLAH BADHURDEEN</cp:lastModifiedBy>
  <cp:revision>3</cp:revision>
  <dcterms:created xsi:type="dcterms:W3CDTF">2026-06-03T09:12:25Z</dcterms:created>
  <dcterms:modified xsi:type="dcterms:W3CDTF">2026-06-03T11:36:47Z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0x010100347FE83D6630D843B4C8DC56C0484B18</vt:lpwstr>
  </property>
</Properties>
</file>