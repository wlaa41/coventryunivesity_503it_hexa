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21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22"/>
    <p:sldId id="271" r:id="rId23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HULLAH BADHURDEEN" userId="38191fa57b5766cf" providerId="LiveId" clId="{7DD2123D-4853-454B-AB2D-0FD32E8814F7}"/>
    <pc:docChg chg="custSel modSld">
      <pc:chgData name="ABDHULLAH BADHURDEEN" userId="38191fa57b5766cf" providerId="LiveId" clId="{7DD2123D-4853-454B-AB2D-0FD32E8814F7}" dt="2026-06-03T09:32:18.022" v="48" actId="20577"/>
      <pc:docMkLst>
        <pc:docMk/>
      </pc:docMkLst>
      <pc:sldChg chg="addSp delSp modSp mod">
        <pc:chgData name="ABDHULLAH BADHURDEEN" userId="38191fa57b5766cf" providerId="LiveId" clId="{7DD2123D-4853-454B-AB2D-0FD32E8814F7}" dt="2026-06-03T09:25:15.953" v="10" actId="14100"/>
        <pc:sldMkLst>
          <pc:docMk/>
          <pc:sldMk cId="0" sldId="258"/>
        </pc:sldMkLst>
        <pc:spChg chg="del">
          <ac:chgData name="ABDHULLAH BADHURDEEN" userId="38191fa57b5766cf" providerId="LiveId" clId="{7DD2123D-4853-454B-AB2D-0FD32E8814F7}" dt="2026-06-03T09:23:55.990" v="1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3:54.189" v="0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18.914" v="5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09.781" v="4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09.781" v="4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09.781" v="4" actId="478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ABDHULLAH BADHURDEEN" userId="38191fa57b5766cf" providerId="LiveId" clId="{7DD2123D-4853-454B-AB2D-0FD32E8814F7}" dt="2026-06-03T09:24:04.692" v="3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09.781" v="4" actId="478"/>
          <ac:spMkLst>
            <pc:docMk/>
            <pc:sldMk cId="0" sldId="258"/>
            <ac:spMk id="22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09.781" v="4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09.781" v="4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09.781" v="4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09.781" v="4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09.781" v="4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4:09.781" v="4" actId="478"/>
          <ac:spMkLst>
            <pc:docMk/>
            <pc:sldMk cId="0" sldId="258"/>
            <ac:spMk id="31" creationId="{00000000-0000-0000-0000-000000000000}"/>
          </ac:spMkLst>
        </pc:spChg>
        <pc:picChg chg="add mod">
          <ac:chgData name="ABDHULLAH BADHURDEEN" userId="38191fa57b5766cf" providerId="LiveId" clId="{7DD2123D-4853-454B-AB2D-0FD32E8814F7}" dt="2026-06-03T09:25:15.953" v="10" actId="14100"/>
          <ac:picMkLst>
            <pc:docMk/>
            <pc:sldMk cId="0" sldId="258"/>
            <ac:picMk id="35" creationId="{B03D381C-7725-D485-77A9-364CBF3D8D30}"/>
          </ac:picMkLst>
        </pc:picChg>
      </pc:sldChg>
      <pc:sldChg chg="addSp delSp modSp mod">
        <pc:chgData name="ABDHULLAH BADHURDEEN" userId="38191fa57b5766cf" providerId="LiveId" clId="{7DD2123D-4853-454B-AB2D-0FD32E8814F7}" dt="2026-06-03T09:27:21.446" v="20" actId="14100"/>
        <pc:sldMkLst>
          <pc:docMk/>
          <pc:sldMk cId="0" sldId="259"/>
        </pc:sldMkLst>
        <pc:spChg chg="del">
          <ac:chgData name="ABDHULLAH BADHURDEEN" userId="38191fa57b5766cf" providerId="LiveId" clId="{7DD2123D-4853-454B-AB2D-0FD32E8814F7}" dt="2026-06-03T09:26:33.807" v="13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33.807" v="13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42.870" v="14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45.843" v="15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48.620" v="16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15.116" v="12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15.116" v="12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15.116" v="12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15.116" v="12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15.116" v="12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15.116" v="12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15.116" v="12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15.116" v="12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15.116" v="12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6:15.116" v="12" actId="478"/>
          <ac:spMkLst>
            <pc:docMk/>
            <pc:sldMk cId="0" sldId="259"/>
            <ac:spMk id="30" creationId="{00000000-0000-0000-0000-000000000000}"/>
          </ac:spMkLst>
        </pc:spChg>
        <pc:picChg chg="add mod">
          <ac:chgData name="ABDHULLAH BADHURDEEN" userId="38191fa57b5766cf" providerId="LiveId" clId="{7DD2123D-4853-454B-AB2D-0FD32E8814F7}" dt="2026-06-03T09:27:21.446" v="20" actId="14100"/>
          <ac:picMkLst>
            <pc:docMk/>
            <pc:sldMk cId="0" sldId="259"/>
            <ac:picMk id="34" creationId="{B9A39F14-2203-6149-A2D9-6897C9E166CD}"/>
          </ac:picMkLst>
        </pc:picChg>
      </pc:sldChg>
      <pc:sldChg chg="addSp delSp modSp mod">
        <pc:chgData name="ABDHULLAH BADHURDEEN" userId="38191fa57b5766cf" providerId="LiveId" clId="{7DD2123D-4853-454B-AB2D-0FD32E8814F7}" dt="2026-06-03T09:30:21.804" v="31" actId="1076"/>
        <pc:sldMkLst>
          <pc:docMk/>
          <pc:sldMk cId="0" sldId="260"/>
        </pc:sldMkLst>
        <pc:spChg chg="mod">
          <ac:chgData name="ABDHULLAH BADHURDEEN" userId="38191fa57b5766cf" providerId="LiveId" clId="{7DD2123D-4853-454B-AB2D-0FD32E8814F7}" dt="2026-06-03T09:30:21.804" v="31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5:38.738" v="11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5:38.738" v="11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5:38.738" v="11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5:38.738" v="11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5:38.738" v="11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5:38.738" v="11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5:38.738" v="11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5:38.738" v="11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5:38.738" v="11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5:38.738" v="11" actId="1076"/>
          <ac:spMkLst>
            <pc:docMk/>
            <pc:sldMk cId="0" sldId="260"/>
            <ac:spMk id="17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17.749" v="23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15.230" v="22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15.230" v="22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08.984" v="21" actId="478"/>
          <ac:spMkLst>
            <pc:docMk/>
            <pc:sldMk cId="0" sldId="260"/>
            <ac:spMk id="25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08.984" v="21" actId="478"/>
          <ac:spMkLst>
            <pc:docMk/>
            <pc:sldMk cId="0" sldId="260"/>
            <ac:spMk id="26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08.984" v="21" actId="478"/>
          <ac:spMkLst>
            <pc:docMk/>
            <pc:sldMk cId="0" sldId="260"/>
            <ac:spMk id="31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08.984" v="21" actId="478"/>
          <ac:spMkLst>
            <pc:docMk/>
            <pc:sldMk cId="0" sldId="260"/>
            <ac:spMk id="32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15.230" v="22" actId="478"/>
          <ac:spMkLst>
            <pc:docMk/>
            <pc:sldMk cId="0" sldId="260"/>
            <ac:spMk id="33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08.984" v="21" actId="478"/>
          <ac:spMkLst>
            <pc:docMk/>
            <pc:sldMk cId="0" sldId="260"/>
            <ac:spMk id="34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08.984" v="21" actId="478"/>
          <ac:spMkLst>
            <pc:docMk/>
            <pc:sldMk cId="0" sldId="260"/>
            <ac:spMk id="36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08.984" v="21" actId="478"/>
          <ac:spMkLst>
            <pc:docMk/>
            <pc:sldMk cId="0" sldId="260"/>
            <ac:spMk id="37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08.984" v="21" actId="478"/>
          <ac:spMkLst>
            <pc:docMk/>
            <pc:sldMk cId="0" sldId="260"/>
            <ac:spMk id="40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08.984" v="21" actId="478"/>
          <ac:spMkLst>
            <pc:docMk/>
            <pc:sldMk cId="0" sldId="260"/>
            <ac:spMk id="43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08.984" v="21" actId="478"/>
          <ac:spMkLst>
            <pc:docMk/>
            <pc:sldMk cId="0" sldId="260"/>
            <ac:spMk id="45" creationId="{00000000-0000-0000-0000-000000000000}"/>
          </ac:spMkLst>
        </pc:spChg>
        <pc:spChg chg="mod">
          <ac:chgData name="ABDHULLAH BADHURDEEN" userId="38191fa57b5766cf" providerId="LiveId" clId="{7DD2123D-4853-454B-AB2D-0FD32E8814F7}" dt="2026-06-03T09:29:19.481" v="24" actId="1076"/>
          <ac:spMkLst>
            <pc:docMk/>
            <pc:sldMk cId="0" sldId="260"/>
            <ac:spMk id="46" creationId="{00000000-0000-0000-0000-000000000000}"/>
          </ac:spMkLst>
        </pc:spChg>
        <pc:spChg chg="del">
          <ac:chgData name="ABDHULLAH BADHURDEEN" userId="38191fa57b5766cf" providerId="LiveId" clId="{7DD2123D-4853-454B-AB2D-0FD32E8814F7}" dt="2026-06-03T09:29:22.744" v="25" actId="478"/>
          <ac:spMkLst>
            <pc:docMk/>
            <pc:sldMk cId="0" sldId="260"/>
            <ac:spMk id="47" creationId="{00000000-0000-0000-0000-000000000000}"/>
          </ac:spMkLst>
        </pc:spChg>
        <pc:picChg chg="add mod">
          <ac:chgData name="ABDHULLAH BADHURDEEN" userId="38191fa57b5766cf" providerId="LiveId" clId="{7DD2123D-4853-454B-AB2D-0FD32E8814F7}" dt="2026-06-03T09:29:30.374" v="29" actId="1076"/>
          <ac:picMkLst>
            <pc:docMk/>
            <pc:sldMk cId="0" sldId="260"/>
            <ac:picMk id="51" creationId="{E00DD4CE-F570-C3A7-EB50-F36B6650F998}"/>
          </ac:picMkLst>
        </pc:picChg>
      </pc:sldChg>
      <pc:sldChg chg="modSp mod">
        <pc:chgData name="ABDHULLAH BADHURDEEN" userId="38191fa57b5766cf" providerId="LiveId" clId="{7DD2123D-4853-454B-AB2D-0FD32E8814F7}" dt="2026-06-03T09:32:18.022" v="48" actId="20577"/>
        <pc:sldMkLst>
          <pc:docMk/>
          <pc:sldMk cId="0" sldId="262"/>
        </pc:sldMkLst>
        <pc:spChg chg="mod">
          <ac:chgData name="ABDHULLAH BADHURDEEN" userId="38191fa57b5766cf" providerId="LiveId" clId="{7DD2123D-4853-454B-AB2D-0FD32E8814F7}" dt="2026-06-03T09:32:18.022" v="48" actId="20577"/>
          <ac:spMkLst>
            <pc:docMk/>
            <pc:sldMk cId="0" sldId="262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6087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858000" y="27432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2700000">
            <a:off x="8046720" y="109728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 rot="2700000">
            <a:off x="8412480" y="9144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rot="2700000">
            <a:off x="6400800" y="182880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rot="2700000">
            <a:off x="8686800" y="256032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 rot="2700000">
            <a:off x="7315200" y="3200400"/>
            <a:ext cx="548640" cy="54864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FFC72C">
              <a:alpha val="8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 rot="2700000">
            <a:off x="457200" y="548640"/>
            <a:ext cx="640080" cy="640080"/>
          </a:xfrm>
          <a:prstGeom prst="rect">
            <a:avLst/>
          </a:prstGeom>
          <a:solidFill>
            <a:srgbClr val="FFC72C">
              <a:alpha val="80000"/>
            </a:srgbClr>
          </a:solidFill>
          <a:ln w="254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38912" y="6400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" y="1463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HEXA</a:t>
            </a:r>
            <a:endParaRPr lang="en-US" sz="8000" dirty="0"/>
          </a:p>
        </p:txBody>
      </p:sp>
      <p:sp>
        <p:nvSpPr>
          <p:cNvPr id="13" name="Shape 11"/>
          <p:cNvSpPr/>
          <p:nvPr/>
        </p:nvSpPr>
        <p:spPr>
          <a:xfrm>
            <a:off x="274320" y="2633472"/>
            <a:ext cx="3840480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74320" y="2724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Cyber-Smart Gaming for Education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" y="3246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Coventry University  ·  503IT  ·  Team Hexa  ·  6 Members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  ·  JUNE 2026  ·  15 MINUTES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Danger Is Rising.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Awareness Isn't.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7432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users face phishing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scam attempts online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74320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7432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rate from traditional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leaflets &amp; lectures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274320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2743200" cy="5486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080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D9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Years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0" y="3291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exposure before most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cyber education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  ·  MEMBER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Hexa.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story-driven cyber-security quiz game where players learn by living real online scenarios.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256032" cy="256032"/>
          </a:xfrm>
          <a:prstGeom prst="rect">
            <a:avLst/>
          </a:prstGeom>
          <a:solidFill>
            <a:srgbClr val="FFC72C">
              <a:alpha val="70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3346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Scenarios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56032" cy="256032"/>
          </a:xfrm>
          <a:prstGeom prst="rect">
            <a:avLst/>
          </a:prstGeom>
          <a:solidFill>
            <a:srgbClr val="FFC72C">
              <a:alpha val="70000"/>
            </a:srgbClr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" y="36667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 Groups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256032" cy="256032"/>
          </a:xfrm>
          <a:prstGeom prst="rect">
            <a:avLst/>
          </a:prstGeom>
          <a:solidFill>
            <a:srgbClr val="FFD966">
              <a:alpha val="70000"/>
            </a:srgbClr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3986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256032" cy="256032"/>
          </a:xfrm>
          <a:prstGeom prst="rect">
            <a:avLst/>
          </a:prstGeom>
          <a:solidFill>
            <a:srgbClr val="AAAAAA">
              <a:alpha val="70000"/>
            </a:srgbClr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4306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Any Browser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MEMBER 2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03D381C-7725-D485-77A9-364CBF3D8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032093"/>
            <a:ext cx="4757767" cy="30443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  ·  MEMBER 2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9A39F14-2203-6149-A2D9-6897C9E16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3"/>
            <a:ext cx="9144000" cy="4837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2590" y="218866"/>
            <a:ext cx="1645920" cy="256032"/>
          </a:xfrm>
          <a:prstGeom prst="rect">
            <a:avLst/>
          </a:prstGeom>
          <a:solidFill>
            <a:srgbClr val="FFD96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 by Deciding.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18854" y="1608164"/>
            <a:ext cx="347472" cy="34747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8854" y="16264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1774" y="16081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Scenario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1774" y="18641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suspicious email,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risky login, a social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moment.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8854" y="2412836"/>
            <a:ext cx="347472" cy="34747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8854" y="243112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1774" y="24128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Choice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1774" y="26688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realistic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options.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8854" y="3217508"/>
            <a:ext cx="347472" cy="34747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18854" y="323579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1774" y="32175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1774" y="34735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consequence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explanation.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8854" y="4022180"/>
            <a:ext cx="347472" cy="34747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18854" y="40404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1774" y="40221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1774" y="42782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to reinforce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behaviour.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71433" y="3473540"/>
            <a:ext cx="4572000" cy="2011680"/>
          </a:xfrm>
          <a:prstGeom prst="rect">
            <a:avLst/>
          </a:prstGeom>
          <a:solidFill>
            <a:srgbClr val="0F0F1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  ·  MEMBER 3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00DD4CE-F570-C3A7-EB50-F36B6650F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008" y="604269"/>
            <a:ext cx="5620420" cy="30024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D96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DESIGNED FOR EVERYONE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Game.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Audiences.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97480" cy="2743200"/>
          </a:xfrm>
          <a:prstGeom prst="rect">
            <a:avLst/>
          </a:prstGeom>
          <a:solidFill>
            <a:srgbClr val="0F0F0F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974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CHILDREN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" y="32186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internet 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36758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77240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41330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77240" y="4133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online dangers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103120"/>
            <a:ext cx="2697480" cy="2743200"/>
          </a:xfrm>
          <a:prstGeom prst="rect">
            <a:avLst/>
          </a:prstGeom>
          <a:solidFill>
            <a:srgbClr val="0F0F1A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337560" y="2103120"/>
            <a:ext cx="2697480" cy="5486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429000" y="2176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🏙️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2900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TEENS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02152" y="3218688"/>
            <a:ext cx="73152" cy="219456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657600" y="32186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safety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02152" y="3675888"/>
            <a:ext cx="73152" cy="219456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657600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Cyberbullying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02152" y="4133088"/>
            <a:ext cx="73152" cy="219456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657600" y="4133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digital privacy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103120"/>
            <a:ext cx="2697480" cy="27432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217920" y="2103120"/>
            <a:ext cx="26974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309360" y="2176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0936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ADULTS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2512" y="32186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537960" y="32186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security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82512" y="36758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537960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scams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82512" y="4133088"/>
            <a:ext cx="73152" cy="21945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537960" y="4133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&amp; data protection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  ·  MEMBER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BUILT IT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in the Open.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7452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E34C2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874520" cy="54864"/>
          </a:xfrm>
          <a:prstGeom prst="rect">
            <a:avLst/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4C26"/>
                </a:solidFill>
                <a:latin typeface="Arial Black" pitchFamily="34" charset="0"/>
              </a:rPr>
              <a:t>React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scenarios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508760"/>
            <a:ext cx="187452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264DE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514600" y="1508760"/>
            <a:ext cx="1874520" cy="54864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606040" y="1600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64D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06040" y="221284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age-themed UI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508760"/>
            <a:ext cx="187452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F7DF1E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572000" y="1508760"/>
            <a:ext cx="1874520" cy="54864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7D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221284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logic, scoring, feedback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1508760"/>
            <a:ext cx="187452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3776AB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629400" y="1508760"/>
            <a:ext cx="1874520" cy="54864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720840" y="16002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776A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20840" y="221284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tooling &amp;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8412480" cy="219456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1280160" cy="219456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2920" y="2990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  ×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828800" y="2971800"/>
            <a:ext cx="1280160" cy="219456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874520" y="2990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  ×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0" y="2971800"/>
            <a:ext cx="1280160" cy="219456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246120" y="2990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  ×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84048" y="321868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58368" y="3218688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React, { useState } from 'react';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4048" y="337413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58368" y="3374136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scenarios } from './data/scenarios';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4048" y="3529584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3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58368" y="3529584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4048" y="368503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58368" y="3685032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HexaQuiz() {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84048" y="384048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58368" y="3840480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const [score, setScore] = useState(0);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84048" y="399592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58368" y="3995928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const [current, setCurrent] = useState(0);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84048" y="4151376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58368" y="4151376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// Handle player choice &amp; feedback logic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84048" y="4306824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8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58368" y="4306824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const handleAnswer = (choice) =&gt; {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84048" y="4462272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9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58368" y="4462272"/>
            <a:ext cx="8046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BBB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if (choice.correct) setScore(s =&gt; s + 1);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4  ·  MEMBER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COLLABORATION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Together,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the Open.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393192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11480" y="2103120"/>
            <a:ext cx="64008" cy="1234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C72C"/>
                </a:solidFill>
              </a:rPr>
              <a:t>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commits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7249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repo, branch-based workflow, pull request reviews.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103120"/>
            <a:ext cx="393192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617720" y="2103120"/>
            <a:ext cx="64008" cy="1234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0060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C72C"/>
                </a:solidFill>
              </a:rPr>
              <a:t>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94960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27249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agendas, decisions, and action plans on file.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520440"/>
            <a:ext cx="393192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11480" y="3520440"/>
            <a:ext cx="64008" cy="123444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943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D966"/>
                </a:solidFill>
              </a:rPr>
              <a:t>📖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8720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Guide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904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members aligned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41422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document keeping the whole team in sync.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520440"/>
            <a:ext cx="3931920" cy="123444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617720" y="3520440"/>
            <a:ext cx="64008" cy="1234440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0060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6A800"/>
                </a:solidFill>
              </a:rPr>
              <a:t>✅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94960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3904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41422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deadlines and responsible members for every item.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4  ·  MEMBER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Listened.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Then We Improved.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901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prototypes trialled with real players across all three age groups.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011680" cy="2377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0116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377440"/>
            <a:ext cx="2011680" cy="2377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606040" y="2377440"/>
            <a:ext cx="2011680" cy="5486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697480" y="2487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9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697480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full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unaided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377440"/>
            <a:ext cx="2011680" cy="23774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20116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46320" y="2487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4.3★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846320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the game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and clear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377440"/>
            <a:ext cx="2011680" cy="237744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903720" y="2377440"/>
            <a:ext cx="2011680" cy="5486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995160" y="2487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995160" y="340156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iteration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5  ·  MEMBER 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ACCESSIBILITY &amp; INCLUSION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Designed for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Everyone.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64008" cy="6400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C72C"/>
                </a:solidFill>
              </a:rPr>
              <a:t>◑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61872" y="20665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Colours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buttons meet readability guidance against the dark theme.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64008" cy="64008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D966"/>
                </a:solidFill>
              </a:rPr>
              <a:t>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61872" y="27980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Friendly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61872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quiz options reachable and selectable without a mouse.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64008" cy="6400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C72C"/>
                </a:solidFill>
              </a:rPr>
              <a:t>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61872" y="3529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Plain, Age-Tuned Language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matched to each audience — no jargon for younger players.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50292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64008" cy="640080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4008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6A800"/>
                </a:solidFill>
              </a:rPr>
              <a:t>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61872" y="4261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61872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and lightweight — no powerful device required.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1371600"/>
            <a:ext cx="2834640" cy="347472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943600" y="1371600"/>
            <a:ext cx="2834640" cy="5486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03504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Changed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9320" y="1874520"/>
            <a:ext cx="182880" cy="18288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263640" y="1874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Wording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21305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Re-wrote children's questions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plainer language.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2880360"/>
            <a:ext cx="182880" cy="18288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263640" y="2880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Feedback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1363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'why' explanation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answer.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89320" y="3886200"/>
            <a:ext cx="182880" cy="18288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263640" y="3886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Tap Targets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41422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Enlarged buttons for easier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 touch screens.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5  ·  MEMBER 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Members.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Solution.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974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594360" cy="594360"/>
          </a:xfrm>
          <a:prstGeom prst="ellipse">
            <a:avLst/>
          </a:prstGeom>
          <a:solidFill>
            <a:srgbClr val="FFC72C">
              <a:alpha val="80000"/>
            </a:srgbClr>
          </a:solidFill>
          <a:ln w="190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Bhandari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Frontend — Built quiz engine &amp; age-themed UI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210312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46120" y="2011680"/>
            <a:ext cx="26974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383280" y="2176272"/>
            <a:ext cx="594360" cy="594360"/>
          </a:xfrm>
          <a:prstGeom prst="ellipse">
            <a:avLst/>
          </a:prstGeom>
          <a:solidFill>
            <a:srgbClr val="FFC72C">
              <a:alpha val="80000"/>
            </a:srgbClr>
          </a:solidFill>
          <a:ln w="190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83280" y="221284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SJS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87368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Sandesh Jung Shah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87368" y="2514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01168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8" name="Shape 16"/>
          <p:cNvSpPr/>
          <p:nvPr/>
        </p:nvSpPr>
        <p:spPr>
          <a:xfrm>
            <a:off x="6126480" y="2011680"/>
            <a:ext cx="2697480" cy="5486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263640" y="2176272"/>
            <a:ext cx="594360" cy="594360"/>
          </a:xfrm>
          <a:prstGeom prst="ellipse">
            <a:avLst/>
          </a:prstGeom>
          <a:solidFill>
            <a:srgbClr val="FFD966">
              <a:alpha val="80000"/>
            </a:srgbClr>
          </a:solidFill>
          <a:ln w="1905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63640" y="221284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67728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Badhurdeen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2697480" cy="5486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02920" y="3639312"/>
            <a:ext cx="594360" cy="594360"/>
          </a:xfrm>
          <a:prstGeom prst="ellipse">
            <a:avLst/>
          </a:prstGeom>
          <a:solidFill>
            <a:srgbClr val="E6A800">
              <a:alpha val="80000"/>
            </a:srgbClr>
          </a:solidFill>
          <a:ln w="1905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02920" y="367588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07008" y="3639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Sijan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Bhandhari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3977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Scenarios — Wrote 45 quiz scenarios across 3 age groups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347472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246120" y="3474720"/>
            <a:ext cx="269748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383280" y="3639312"/>
            <a:ext cx="594360" cy="594360"/>
          </a:xfrm>
          <a:prstGeom prst="ellipse">
            <a:avLst/>
          </a:prstGeom>
          <a:solidFill>
            <a:srgbClr val="FFC72C">
              <a:alpha val="80000"/>
            </a:srgbClr>
          </a:solidFill>
          <a:ln w="190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383280" y="367588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87368" y="3639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Johns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Jimee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87368" y="3977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 — Led 18-player user test sessions &amp; iteration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3474720"/>
            <a:ext cx="2697480" cy="128016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126480" y="3474720"/>
            <a:ext cx="2697480" cy="5486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263640" y="3639312"/>
            <a:ext cx="594360" cy="594360"/>
          </a:xfrm>
          <a:prstGeom prst="ellipse">
            <a:avLst/>
          </a:prstGeom>
          <a:solidFill>
            <a:srgbClr val="E6A800">
              <a:alpha val="80000"/>
            </a:srgbClr>
          </a:solidFill>
          <a:ln w="1905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263640" y="367588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67728" y="36393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Nabin Sunar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67728" y="3977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Comms — Meeting minutes, Members Guide &amp; task tracking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6  ·  MEMBER 6</a:t>
            </a:r>
            <a:endParaRPr lang="en-US" sz="900" dirty="0"/>
          </a:p>
        </p:txBody>
      </p:sp>
      <p:sp>
        <p:nvSpPr>
          <p:cNvPr id="43" name="Text 20"/>
          <p:cNvSpPr/>
          <p:nvPr/>
        </p:nvSpPr>
        <p:spPr>
          <a:xfrm>
            <a:off x="4114800" y="2478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 — Wireframes, visual design &amp; accessibility</a:t>
            </a:r>
            <a:endParaRPr lang="en-US" sz="10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191FE308-0C80-E72E-887F-08D2960F2E51}"/>
              </a:ext>
            </a:extLst>
          </p:cNvPr>
          <p:cNvSpPr/>
          <p:nvPr/>
        </p:nvSpPr>
        <p:spPr>
          <a:xfrm>
            <a:off x="6995160" y="24597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Logic — Scoring system &amp; scenario data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Comes Next.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176272"/>
            <a:ext cx="7680960" cy="0"/>
          </a:xfrm>
          <a:prstGeom prst="line">
            <a:avLst/>
          </a:prstGeom>
          <a:noFill/>
          <a:ln w="25400">
            <a:solidFill>
              <a:srgbClr val="FFC72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1993392"/>
            <a:ext cx="365760" cy="3657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1920240" cy="21488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92024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 Release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Coventry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network.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993392"/>
            <a:ext cx="365760" cy="365760"/>
          </a:xfrm>
          <a:prstGeom prst="ellipse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651760" y="2487168"/>
            <a:ext cx="1920240" cy="21488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651760" y="2487168"/>
            <a:ext cx="1920240" cy="54864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69748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D9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School Pilots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9748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schools.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1993392"/>
            <a:ext cx="365760" cy="365760"/>
          </a:xfrm>
          <a:prstGeom prst="ellipse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54880" y="2487168"/>
            <a:ext cx="1920240" cy="214884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754880" y="2487168"/>
            <a:ext cx="192024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0060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analytics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1993392"/>
            <a:ext cx="365760" cy="365760"/>
          </a:xfrm>
          <a:prstGeom prst="ellipse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858000" y="2487168"/>
            <a:ext cx="1920240" cy="214884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858000" y="2487168"/>
            <a:ext cx="1920240" cy="54864"/>
          </a:xfrm>
          <a:prstGeom prst="rect">
            <a:avLst/>
          </a:prstGeom>
          <a:solidFill>
            <a:srgbClr val="E6A800"/>
          </a:solidFill>
          <a:ln w="1270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90372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6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scenarios,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age tracks.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A2E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6  ·  MEMBER 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 rot="2700000">
            <a:off x="7315200" y="18288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 rot="2700000">
            <a:off x="7955280" y="100584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 rot="2700000">
            <a:off x="6858000" y="164592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 rot="2700000">
            <a:off x="8229600" y="228600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 rot="2700000">
            <a:off x="7589520" y="310896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 rot="2700000">
            <a:off x="7132320" y="3840480"/>
            <a:ext cx="502920" cy="502920"/>
          </a:xfrm>
          <a:prstGeom prst="rect">
            <a:avLst/>
          </a:prstGeom>
          <a:solidFill>
            <a:srgbClr val="FFC72C">
              <a:alpha val="12000"/>
            </a:srgbClr>
          </a:solidFill>
          <a:ln w="63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4114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dirty="0">
                <a:solidFill>
                  <a:srgbClr val="FFC72C"/>
                </a:solidFill>
              </a:rPr>
              <a:t>⬡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HEXA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Cyber-Smart Gaming for Education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572000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3639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 ·  Team Hexa  ·  Coventry University  ·  503IT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0000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COVENTRY UNIVERSITY  ·  503IT  ·  COMMUNICATION &amp; COLLABORATION  ·  JUNE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 - Agenda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HeaderText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dirty="0">
                <a:solidFill>
                  <a:srgbClr val="000000"/>
                </a:solidFill>
                <a:latin typeface="Arial Black" pitchFamily="34" charset="0"/>
              </a:rPr>
              <a:t>Agenda — What We'll Cover Today</a:t>
            </a:r>
          </a:p>
        </p:txBody>
      </p:sp>
      <p:sp>
        <p:nvSpPr>
          <p:cNvPr id="4" name="LeftCol"/>
          <p:cNvSpPr/>
          <p:nvPr/>
        </p:nvSpPr>
        <p:spPr>
          <a:xfrm>
            <a:off x="457200" y="800000"/>
            <a:ext cx="3962400" cy="40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</a:rPr>
              <a:t xml:space="preserve">01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</a:rPr>
              <a:t>The Challenge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</a:rPr>
              <a:t>Why cyber education matters now</a:t>
            </a:r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</a:rPr>
              <a:t xml:space="preserve">02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</a:rPr>
              <a:t>Our Solution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</a:rPr>
              <a:t>Introducing Hexa — how it works</a:t>
            </a:r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</a:rPr>
              <a:t xml:space="preserve">03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</a:rPr>
              <a:t>How We Built It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</a:rPr>
              <a:t>Tech stack &amp; justification</a:t>
            </a:r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</a:rPr>
              <a:t xml:space="preserve">04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</a:rPr>
              <a:t>Collaboration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</a:rPr>
              <a:t>Teamwork, tools &amp; problem-solving</a:t>
            </a:r>
          </a:p>
        </p:txBody>
      </p:sp>
      <p:sp>
        <p:nvSpPr>
          <p:cNvPr id="5" name="RightCol"/>
          <p:cNvSpPr/>
          <p:nvPr/>
        </p:nvSpPr>
        <p:spPr>
          <a:xfrm>
            <a:off x="4800600" y="800000"/>
            <a:ext cx="3886200" cy="40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</a:rPr>
              <a:t xml:space="preserve">05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</a:rPr>
              <a:t>User Testing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</a:rPr>
              <a:t>Feedback, iteration &amp; results</a:t>
            </a:r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</a:rPr>
              <a:t xml:space="preserve">06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</a:rPr>
              <a:t>The Team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</a:rPr>
              <a:t>Individual contributions</a:t>
            </a:r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</a:rPr>
              <a:t xml:space="preserve">07 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</a:rPr>
              <a:t>Next Steps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</a:rPr>
              <a:t>Roadmap &amp; questions</a:t>
            </a:r>
          </a:p>
        </p:txBody>
      </p:sp>
      <p:sp>
        <p:nvSpPr>
          <p:cNvPr id="6" name="FooterBa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FooterText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0" kern="0" spc="200" dirty="0">
                <a:solidFill>
                  <a:srgbClr val="000000"/>
                </a:solidFill>
                <a:latin typeface="Arial" pitchFamily="34" charset="0"/>
              </a:rPr>
              <a:t>15 MINUTES  ·  TEAM HEXA  ·  COVENTRY UNIVERSITY  ·  503IT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 - Why These Tools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Bg"/>
          <p:cNvSpPr/>
          <p:nvPr/>
        </p:nvSpPr>
        <p:spPr>
          <a:xfrm>
            <a:off x="457200" y="256032"/>
            <a:ext cx="192024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agText"/>
          <p:cNvSpPr/>
          <p:nvPr/>
        </p:nvSpPr>
        <p:spPr>
          <a:xfrm>
            <a:off x="45720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</a:rPr>
              <a:t>HOW WE BUILT IT</a:t>
            </a:r>
          </a:p>
        </p:txBody>
      </p:sp>
      <p:sp>
        <p:nvSpPr>
          <p:cNvPr id="4" name="Heading"/>
          <p:cNvSpPr/>
          <p:nvPr/>
        </p:nvSpPr>
        <p:spPr>
          <a:xfrm>
            <a:off x="457200" y="594360"/>
            <a:ext cx="82296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dirty="0">
                <a:solidFill>
                  <a:srgbClr val="FFFFFF"/>
                </a:solidFill>
                <a:latin typeface="Arial Black" pitchFamily="34" charset="0"/>
              </a:rPr>
              <a:t>Why We Chose</a:t>
            </a:r>
          </a:p>
          <a:p>
            <a:pPr marL="0" indent="0" algn="l">
              <a:buNone/>
            </a:pPr>
            <a:r>
              <a:rPr lang="en-US" sz="4000" b="1" kern="0" dirty="0">
                <a:solidFill>
                  <a:srgbClr val="FFC72C"/>
                </a:solidFill>
                <a:latin typeface="Arial Black" pitchFamily="34" charset="0"/>
              </a:rPr>
              <a:t>These Tools.</a:t>
            </a:r>
          </a:p>
        </p:txBody>
      </p:sp>
      <p:sp>
        <p:nvSpPr>
          <p:cNvPr id="5" name="Card1Bg"/>
          <p:cNvSpPr/>
          <p:nvPr/>
        </p:nvSpPr>
        <p:spPr>
          <a:xfrm>
            <a:off x="457200" y="1600200"/>
            <a:ext cx="2590800" cy="29718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Card1Text"/>
          <p:cNvSpPr/>
          <p:nvPr/>
        </p:nvSpPr>
        <p:spPr>
          <a:xfrm>
            <a:off x="457200" y="1600200"/>
            <a:ext cx="2590800" cy="2971800"/>
          </a:xfrm>
          <a:prstGeom prst="rect">
            <a:avLst/>
          </a:prstGeom>
          <a:noFill/>
          <a:ln/>
        </p:spPr>
        <p:txBody>
          <a:bodyPr wrap="square" lIns="228600" tIns="228600" rIns="228600" bIns="22860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C72C"/>
                </a:solidFill>
                <a:latin typeface="Arial Black" pitchFamily="34" charset="0"/>
              </a:rPr>
              <a:t>React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</a:rPr>
              <a:t>Why not plain HTML/JS?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</a:rPr>
              <a:t>Component reuse across 3 age groups saved significant build time. State management made quiz logic clean and reliable.</a:t>
            </a:r>
          </a:p>
        </p:txBody>
      </p:sp>
      <p:sp>
        <p:nvSpPr>
          <p:cNvPr id="7" name="Card2Bg"/>
          <p:cNvSpPr/>
          <p:nvPr/>
        </p:nvSpPr>
        <p:spPr>
          <a:xfrm>
            <a:off x="3200400" y="1600200"/>
            <a:ext cx="2590800" cy="297180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Card2Text"/>
          <p:cNvSpPr/>
          <p:nvPr/>
        </p:nvSpPr>
        <p:spPr>
          <a:xfrm>
            <a:off x="3200400" y="1600200"/>
            <a:ext cx="2590800" cy="2971800"/>
          </a:xfrm>
          <a:prstGeom prst="rect">
            <a:avLst/>
          </a:prstGeom>
          <a:noFill/>
          <a:ln/>
        </p:spPr>
        <p:txBody>
          <a:bodyPr wrap="square" lIns="228600" tIns="228600" rIns="228600" bIns="22860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6A800"/>
                </a:solidFill>
                <a:latin typeface="Arial Black" pitchFamily="34" charset="0"/>
              </a:rPr>
              <a:t>Browser-Based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</a:rPr>
              <a:t>Why not an app?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</a:rPr>
              <a:t>No installation required — critical for school environments. Works on any device, any OS, without admin permissions.</a:t>
            </a:r>
          </a:p>
        </p:txBody>
      </p:sp>
      <p:sp>
        <p:nvSpPr>
          <p:cNvPr id="9" name="Card3Bg"/>
          <p:cNvSpPr/>
          <p:nvPr/>
        </p:nvSpPr>
        <p:spPr>
          <a:xfrm>
            <a:off x="5943600" y="1600200"/>
            <a:ext cx="2743200" cy="29718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Card3Text"/>
          <p:cNvSpPr/>
          <p:nvPr/>
        </p:nvSpPr>
        <p:spPr>
          <a:xfrm>
            <a:off x="5943600" y="1600200"/>
            <a:ext cx="2743200" cy="2971800"/>
          </a:xfrm>
          <a:prstGeom prst="rect">
            <a:avLst/>
          </a:prstGeom>
          <a:noFill/>
          <a:ln/>
        </p:spPr>
        <p:txBody>
          <a:bodyPr wrap="square" lIns="228600" tIns="228600" rIns="228600" bIns="22860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D966"/>
                </a:solidFill>
                <a:latin typeface="Arial Black" pitchFamily="34" charset="0"/>
              </a:rPr>
              <a:t>Quiz Format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</a:rPr>
              <a:t>Why not a video?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</a:rPr>
              <a:t>Active decision-making improves retention vs passive watching. Players live the scenario, making consequences feel real.</a:t>
            </a:r>
          </a:p>
        </p:txBody>
      </p:sp>
      <p:sp>
        <p:nvSpPr>
          <p:cNvPr id="11" name="FooterBa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FooterText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0" kern="0" spc="200" dirty="0">
                <a:solidFill>
                  <a:srgbClr val="000000"/>
                </a:solidFill>
                <a:latin typeface="Arial" pitchFamily="34" charset="0"/>
              </a:rPr>
              <a:t>PRESENTER 4  ·  MEMBER 4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 - Problem Solving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Bg"/>
          <p:cNvSpPr/>
          <p:nvPr/>
        </p:nvSpPr>
        <p:spPr>
          <a:xfrm>
            <a:off x="457200" y="256032"/>
            <a:ext cx="1554480" cy="256032"/>
          </a:xfrm>
          <a:prstGeom prst="rect">
            <a:avLst/>
          </a:prstGeom>
          <a:solidFill>
            <a:srgbClr val="FFC72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agText"/>
          <p:cNvSpPr/>
          <p:nvPr/>
        </p:nvSpPr>
        <p:spPr>
          <a:xfrm>
            <a:off x="45720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Arial Black" pitchFamily="34" charset="0"/>
              </a:rPr>
              <a:t>COLLABORATION</a:t>
            </a:r>
          </a:p>
        </p:txBody>
      </p:sp>
      <p:sp>
        <p:nvSpPr>
          <p:cNvPr id="4" name="Heading"/>
          <p:cNvSpPr/>
          <p:nvPr/>
        </p:nvSpPr>
        <p:spPr>
          <a:xfrm>
            <a:off x="457200" y="594360"/>
            <a:ext cx="82296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dirty="0">
                <a:solidFill>
                  <a:srgbClr val="FFFFFF"/>
                </a:solidFill>
                <a:latin typeface="Arial Black" pitchFamily="34" charset="0"/>
              </a:rPr>
              <a:t>When Things Got Hard,</a:t>
            </a:r>
          </a:p>
          <a:p>
            <a:pPr marL="0" indent="0" algn="l">
              <a:buNone/>
            </a:pPr>
            <a:r>
              <a:rPr lang="en-US" sz="4000" b="1" kern="0" dirty="0">
                <a:solidFill>
                  <a:srgbClr val="FFC72C"/>
                </a:solidFill>
                <a:latin typeface="Arial Black" pitchFamily="34" charset="0"/>
              </a:rPr>
              <a:t>We Decided Together.</a:t>
            </a:r>
          </a:p>
        </p:txBody>
      </p:sp>
      <p:sp>
        <p:nvSpPr>
          <p:cNvPr id="5" name="Block1Bg"/>
          <p:cNvSpPr/>
          <p:nvPr/>
        </p:nvSpPr>
        <p:spPr>
          <a:xfrm>
            <a:off x="457200" y="1600200"/>
            <a:ext cx="396240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Block1Text"/>
          <p:cNvSpPr/>
          <p:nvPr/>
        </p:nvSpPr>
        <p:spPr>
          <a:xfrm>
            <a:off x="457200" y="1600200"/>
            <a:ext cx="3962400" cy="1371600"/>
          </a:xfrm>
          <a:prstGeom prst="rect">
            <a:avLst/>
          </a:prstGeom>
          <a:noFill/>
          <a:ln/>
        </p:spPr>
        <p:txBody>
          <a:bodyPr wrap="square" lIns="228600" tIns="182880" rIns="228600" bIns="18288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</a:rPr>
              <a:t>Tech Stack Decision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FFC72C"/>
                </a:solidFill>
                <a:latin typeface="Arial" pitchFamily="34" charset="0"/>
              </a:rPr>
              <a:t xml:space="preserve">Challenge: </a:t>
            </a:r>
            <a:r>
              <a:rPr lang="en-US" sz="1150" dirty="0">
                <a:solidFill>
                  <a:srgbClr val="AAAAAA"/>
                </a:solidFill>
                <a:latin typeface="Arial" pitchFamily="34" charset="0"/>
              </a:rPr>
              <a:t>React vs plain HTML — team was split.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FFC72C"/>
                </a:solidFill>
                <a:latin typeface="Arial" pitchFamily="34" charset="0"/>
              </a:rPr>
              <a:t xml:space="preserve">Decision: </a:t>
            </a:r>
            <a:r>
              <a:rPr lang="en-US" sz="1150" dirty="0">
                <a:solidFill>
                  <a:srgbClr val="AAAAAA"/>
                </a:solidFill>
                <a:latin typeface="Arial" pitchFamily="34" charset="0"/>
              </a:rPr>
              <a:t>Voted in sprint meeting. React chosen for component reuse across all 3 age themes.</a:t>
            </a:r>
          </a:p>
        </p:txBody>
      </p:sp>
      <p:sp>
        <p:nvSpPr>
          <p:cNvPr id="7" name="Block2Bg"/>
          <p:cNvSpPr/>
          <p:nvPr/>
        </p:nvSpPr>
        <p:spPr>
          <a:xfrm>
            <a:off x="4800600" y="1600200"/>
            <a:ext cx="388620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E6A8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Block2Text"/>
          <p:cNvSpPr/>
          <p:nvPr/>
        </p:nvSpPr>
        <p:spPr>
          <a:xfrm>
            <a:off x="4800600" y="1600200"/>
            <a:ext cx="3886200" cy="1371600"/>
          </a:xfrm>
          <a:prstGeom prst="rect">
            <a:avLst/>
          </a:prstGeom>
          <a:noFill/>
          <a:ln/>
        </p:spPr>
        <p:txBody>
          <a:bodyPr wrap="square" lIns="228600" tIns="182880" rIns="228600" bIns="18288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</a:rPr>
              <a:t>Scope Management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E6A800"/>
                </a:solidFill>
                <a:latin typeface="Arial" pitchFamily="34" charset="0"/>
              </a:rPr>
              <a:t xml:space="preserve">Challenge: </a:t>
            </a:r>
            <a:r>
              <a:rPr lang="en-US" sz="1150" dirty="0">
                <a:solidFill>
                  <a:srgbClr val="AAAAAA"/>
                </a:solidFill>
                <a:latin typeface="Arial" pitchFamily="34" charset="0"/>
              </a:rPr>
              <a:t>Too many features, tight deadline.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E6A800"/>
                </a:solidFill>
                <a:latin typeface="Arial" pitchFamily="34" charset="0"/>
              </a:rPr>
              <a:t xml:space="preserve">Decision: </a:t>
            </a:r>
            <a:r>
              <a:rPr lang="en-US" sz="1150" dirty="0">
                <a:solidFill>
                  <a:srgbClr val="AAAAAA"/>
                </a:solidFill>
                <a:latin typeface="Arial" pitchFamily="34" charset="0"/>
              </a:rPr>
              <a:t>MoSCoW prioritised as a team. Core quiz delivered first, extras moved to roadmap.</a:t>
            </a:r>
          </a:p>
        </p:txBody>
      </p:sp>
      <p:sp>
        <p:nvSpPr>
          <p:cNvPr id="9" name="Block3Bg"/>
          <p:cNvSpPr/>
          <p:nvPr/>
        </p:nvSpPr>
        <p:spPr>
          <a:xfrm>
            <a:off x="457200" y="3086400"/>
            <a:ext cx="396240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96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Block3Text"/>
          <p:cNvSpPr/>
          <p:nvPr/>
        </p:nvSpPr>
        <p:spPr>
          <a:xfrm>
            <a:off x="457200" y="3086400"/>
            <a:ext cx="3962400" cy="1371600"/>
          </a:xfrm>
          <a:prstGeom prst="rect">
            <a:avLst/>
          </a:prstGeom>
          <a:noFill/>
          <a:ln/>
        </p:spPr>
        <p:txBody>
          <a:bodyPr wrap="square" lIns="228600" tIns="182880" rIns="228600" bIns="18288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</a:rPr>
              <a:t>Communication Tools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FFD966"/>
                </a:solidFill>
                <a:latin typeface="Arial" pitchFamily="34" charset="0"/>
              </a:rPr>
              <a:t xml:space="preserve">Day-to-day: </a:t>
            </a:r>
            <a:r>
              <a:rPr lang="en-US" sz="1150" dirty="0">
                <a:solidFill>
                  <a:srgbClr val="AAAAAA"/>
                </a:solidFill>
                <a:latin typeface="Arial" pitchFamily="34" charset="0"/>
              </a:rPr>
              <a:t>WhatsApp group for quick updates.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FFD966"/>
                </a:solidFill>
                <a:latin typeface="Arial" pitchFamily="34" charset="0"/>
              </a:rPr>
              <a:t xml:space="preserve">Formal: </a:t>
            </a:r>
            <a:r>
              <a:rPr lang="en-US" sz="1150" dirty="0">
                <a:solidFill>
                  <a:srgbClr val="AAAAAA"/>
                </a:solidFill>
                <a:latin typeface="Arial" pitchFamily="34" charset="0"/>
              </a:rPr>
              <a:t>Weekly sprint meetings documented in minutes. GitHub for all code decisions.</a:t>
            </a:r>
          </a:p>
        </p:txBody>
      </p:sp>
      <p:sp>
        <p:nvSpPr>
          <p:cNvPr id="11" name="Block4Bg"/>
          <p:cNvSpPr/>
          <p:nvPr/>
        </p:nvSpPr>
        <p:spPr>
          <a:xfrm>
            <a:off x="4800600" y="3086400"/>
            <a:ext cx="3886200" cy="1371600"/>
          </a:xfrm>
          <a:prstGeom prst="rect">
            <a:avLst/>
          </a:prstGeom>
          <a:solidFill>
            <a:srgbClr val="1A1A2E"/>
          </a:solidFill>
          <a:ln w="1905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Block4Text"/>
          <p:cNvSpPr/>
          <p:nvPr/>
        </p:nvSpPr>
        <p:spPr>
          <a:xfrm>
            <a:off x="4800600" y="3086400"/>
            <a:ext cx="3886200" cy="1371600"/>
          </a:xfrm>
          <a:prstGeom prst="rect">
            <a:avLst/>
          </a:prstGeom>
          <a:noFill/>
          <a:ln/>
        </p:spPr>
        <p:txBody>
          <a:bodyPr wrap="square" lIns="228600" tIns="182880" rIns="228600" bIns="18288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</a:rPr>
              <a:t>Delivering the Brief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FFC72C"/>
                </a:solidFill>
                <a:latin typeface="Arial" pitchFamily="34" charset="0"/>
              </a:rPr>
              <a:t xml:space="preserve">Brief asked for: </a:t>
            </a:r>
            <a:r>
              <a:rPr lang="en-US" sz="1150" dirty="0">
                <a:solidFill>
                  <a:srgbClr val="AAAAAA"/>
                </a:solidFill>
                <a:latin typeface="Arial" pitchFamily="34" charset="0"/>
              </a:rPr>
              <a:t>An interactive tool to teach cyber safety to multiple age groups.</a:t>
            </a:r>
          </a:p>
          <a:p>
            <a:pPr marL="0" indent="0" algn="l">
              <a:buNone/>
            </a:pPr>
            <a:r>
              <a:rPr lang="en-US" sz="1150" b="1" dirty="0">
                <a:solidFill>
                  <a:srgbClr val="FFC72C"/>
                </a:solidFill>
                <a:latin typeface="Arial" pitchFamily="34" charset="0"/>
              </a:rPr>
              <a:t xml:space="preserve">We delivered: </a:t>
            </a:r>
            <a:r>
              <a:rPr lang="en-US" sz="1150" dirty="0">
                <a:solidFill>
                  <a:srgbClr val="AAAAAA"/>
                </a:solidFill>
                <a:latin typeface="Arial" pitchFamily="34" charset="0"/>
              </a:rPr>
              <a:t>Hexa — 45 real-world scenarios, 3 age groups, browser-based, tested with 18 users.</a:t>
            </a:r>
          </a:p>
        </p:txBody>
      </p:sp>
      <p:sp>
        <p:nvSpPr>
          <p:cNvPr id="13" name="FooterBa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FooterText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0" kern="0" spc="200" dirty="0">
                <a:solidFill>
                  <a:srgbClr val="000000"/>
                </a:solidFill>
                <a:latin typeface="Arial" pitchFamily="34" charset="0"/>
              </a:rPr>
              <a:t>PRESENTER 4  ·  MEMBER 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724</Words>
  <Application>Microsoft Office PowerPoint</Application>
  <PresentationFormat>On-screen Show (16:9)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Hexa – Cyber-Smart Gaming for Education</dc:title>
  <dc:subject>PptxGenJS Presentation</dc:subject>
  <dc:creator>PptxGenJS</dc:creator>
  <cp:lastModifiedBy>Abdullah Badhurdeen</cp:lastModifiedBy>
  <cp:revision>2</cp:revision>
  <dcterms:created xsi:type="dcterms:W3CDTF">2026-06-03T09:12:25Z</dcterms:created>
  <dcterms:modified xsi:type="dcterms:W3CDTF">2026-06-03T09:49:09Z</dcterms:modified>
</cp:coreProperties>
</file>