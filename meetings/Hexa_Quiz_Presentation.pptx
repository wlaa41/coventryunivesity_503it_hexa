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2743200" cy="5010912"/>
          </a:xfrm>
          <a:prstGeom prst="rect">
            <a:avLst/>
          </a:prstGeom>
          <a:solidFill>
            <a:srgbClr val="1B2A3D"/>
          </a:solidFill>
          <a:ln w="12700">
            <a:solidFill>
              <a:srgbClr val="1B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64008"/>
            <a:ext cx="54864" cy="5010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D948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⬡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3017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Sijan Bhandari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Abdhullah Badhurdeen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3639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Jimee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Bhandari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4261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Shah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4572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Nabin Sunar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5486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Cyber-Smart Gaming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3017520" y="2029968"/>
            <a:ext cx="1828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1762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503IT  |  Coventry University Dagenham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6060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cybersecurity quiz game that teaches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online behaviour across three age groups.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17520" y="3429000"/>
            <a:ext cx="1783080" cy="4114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429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Interactive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3429000"/>
            <a:ext cx="1783080" cy="4114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429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Cyber-Safe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3429000"/>
            <a:ext cx="1783080" cy="41148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3429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Evidence-Led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572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GAMEPLAY  |  EVIDENCE  |  TEAMWORK  |  DEMO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Hexa exist?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Cyber Education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01168" cy="20116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367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safety education is often passive — leaflets, videos, lectures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201168" cy="20116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people are the most at-risk group online yet the least engaged with traditional resources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201168" cy="20116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53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report low retention of online safety content delivered without interactivity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39312"/>
            <a:ext cx="201168" cy="20116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11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brief: build an interactive, self-paced tool that teaches cyber awareness across age groups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920240" cy="1691640"/>
          </a:xfrm>
          <a:prstGeom prst="rect">
            <a:avLst/>
          </a:prstGeom>
          <a:solidFill>
            <a:srgbClr val="1B2A3D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216152"/>
            <a:ext cx="1920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54880" y="2073402"/>
            <a:ext cx="17373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experienced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harm (Ofcom 2024)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20240" cy="1691640"/>
          </a:xfrm>
          <a:prstGeom prst="rect">
            <a:avLst/>
          </a:prstGeom>
          <a:solidFill>
            <a:srgbClr val="1B2A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216152"/>
            <a:ext cx="1920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858000" y="2073402"/>
            <a:ext cx="17373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cyberbullying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top concern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1920240" cy="1691640"/>
          </a:xfrm>
          <a:prstGeom prst="rect">
            <a:avLst/>
          </a:prstGeom>
          <a:solidFill>
            <a:srgbClr val="1B2A3D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36392"/>
            <a:ext cx="1920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754880" y="3993642"/>
            <a:ext cx="17373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regular online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education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063240"/>
            <a:ext cx="1920240" cy="1691640"/>
          </a:xfrm>
          <a:prstGeom prst="rect">
            <a:avLst/>
          </a:prstGeom>
          <a:solidFill>
            <a:srgbClr val="1B2A3D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3136392"/>
            <a:ext cx="192024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58000" y="3993642"/>
            <a:ext cx="1737360" cy="71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age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(38%)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Ofcom Children and Parents: Media Use and Attitudes Report 2024  |  CyberCrew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HEXA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Audience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 groups — one product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265176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15568"/>
            <a:ext cx="26517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155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6968" y="111556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(7–11)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57984"/>
            <a:ext cx="137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 safety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137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browsing habits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52928"/>
            <a:ext cx="137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strangers online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inappropriate content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547872"/>
            <a:ext cx="246888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2102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learners benefit from simple, visual scenarios and immediate positive feedback.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1115568"/>
            <a:ext cx="265176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1115568"/>
            <a:ext cx="26517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11155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721608" y="111556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Teenagers (12–17)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1840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2157984"/>
            <a:ext cx="1371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&amp; social media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505456"/>
            <a:ext cx="1371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3864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links &amp; fake profiles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2852928"/>
            <a:ext cx="1371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83864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3200400"/>
            <a:ext cx="1371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83864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footprint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46120" y="3547872"/>
            <a:ext cx="2468880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362102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face the highest cyberbullying risk (38% peak at 14–15). Scenario-based choices resonate.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1115568"/>
            <a:ext cx="2651760" cy="3840480"/>
          </a:xfrm>
          <a:prstGeom prst="rect">
            <a:avLst/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1115568"/>
            <a:ext cx="265176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11556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👩‍💼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6556248" y="111556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(18+)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26480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2157984"/>
            <a:ext cx="13716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phishing emails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2505456"/>
            <a:ext cx="13716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18504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scams &amp; fraud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2852928"/>
            <a:ext cx="13716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18504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3200400"/>
            <a:ext cx="137160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18504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(GDPR basics)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80760" y="3547872"/>
            <a:ext cx="2468880" cy="36576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3621024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need work-context realism — phishing simulations and finance-risk scenarios.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Concept &amp; Gameplay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player moves through Hexa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481328" cy="338328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207008"/>
            <a:ext cx="512064" cy="51206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 Group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chooses Children, Teens or Adults — loads the matching question bank from CSV.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37944" y="2633472"/>
            <a:ext cx="1645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560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75688" y="1143000"/>
            <a:ext cx="1481328" cy="338328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207008"/>
            <a:ext cx="512064" cy="51206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75688" y="18288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67128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Scenario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67128" y="288036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cyber situation is shown. Voice narration button reads the question aloud.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93592" y="2633472"/>
            <a:ext cx="1645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1608" y="2560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31336" y="1143000"/>
            <a:ext cx="1481328" cy="338328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15968" y="1207008"/>
            <a:ext cx="512064" cy="51206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31336" y="18288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🤔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922776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Decision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22776" y="288036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picks one of 4 answers. No timer — reflection is encouraged.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49240" y="2633472"/>
            <a:ext cx="1645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2560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86984" y="1143000"/>
            <a:ext cx="1481328" cy="338328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1207008"/>
            <a:ext cx="512064" cy="51206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86984" y="18288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678424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78424" y="288036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 wrong — the reason is shown. Score updates. Player understands the consequence.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04888" y="2633472"/>
            <a:ext cx="1645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32904" y="2560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▶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42632" y="1143000"/>
            <a:ext cx="1481328" cy="338328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827264" y="1207008"/>
            <a:ext cx="512064" cy="512064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7264" y="1207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42632" y="18288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434072" y="23774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&amp; Review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34072" y="2880360"/>
            <a:ext cx="1298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displayed. Encourages replay to improve. Builds safe habits over time.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CSV question bank means new scenarios can be added by tutors without touching App.jsx code.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Hexa in 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914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2710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localhost / live URL. Age-group selector visible.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9384"/>
            <a:ext cx="914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293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Select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Teens. CSV loads phishing and social media questions.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24328"/>
            <a:ext cx="914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243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Play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6609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question aloud using voice button. Pick an answer.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319272"/>
            <a:ext cx="914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192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Feedback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33558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correct answer + explanation. Score updates.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4014216"/>
            <a:ext cx="914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1421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Reflect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4050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player now knows why the correct choice is safer.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1115568"/>
            <a:ext cx="3977640" cy="182880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846320" y="1115568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Age group selector screen 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035808"/>
            <a:ext cx="3977640" cy="182880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846320" y="3035808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Question with voice button visible 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Keep demo to one full question: open → select → answer → feedback. ~90 seconds.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HEXA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Cyber-Safety Topics Covered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concepts built into the question bank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Hexa's CSV question bank covers five evidence-backed cyber-safety concepts, mapped to all three age groups. Each concept uses realistic, scenario-based questions rather than abstract rules.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37360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1417320"/>
                <a:gridCol w="1508760"/>
                <a:gridCol w="1417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7–11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Teens 12–17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 18+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🔒 Passwords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passwords are the #1 route into accounts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Basic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Strong passwords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MFA &amp; managers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🎣 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 of UK adults received phishing attempts (NCSC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Suspicious links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Fake profiles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Email scams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🛡️ Privacy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Oversharing on social media creates long-term risks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Strangers online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Settings &amp; sharing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GDPR basics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😢 Cyberbullying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 of 14–15 year olds report cyberbullying (CyberCrew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Bystander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💸 Scams &amp; Fraud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fraud up 24% YoY (Action Fraud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Social scams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 Finance scams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Value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games teach better than leaflets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901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choose answers under realistic conditions — not passive reading.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76856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276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 of each decision is shown instantly, linking action to outcome.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889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3127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Replaying the quiz reinforces memory. CSV rotation keeps content fresh.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0215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502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Accessibility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3739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narration supports neurodiverse users and non-native readers (WCAG 2.1 AA).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114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Realism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4352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use real email subject lines, fake login pages and social media messages.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143000"/>
            <a:ext cx="4069080" cy="201168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709160" y="114300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Feedback screen showing correct answer + explanation 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291840"/>
            <a:ext cx="1280160" cy="1463040"/>
          </a:xfrm>
          <a:prstGeom prst="rect">
            <a:avLst/>
          </a:prstGeom>
          <a:solidFill>
            <a:srgbClr val="1B2A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36499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800600" y="4096512"/>
            <a:ext cx="10972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(above average)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9048" y="3291840"/>
            <a:ext cx="1280160" cy="1463040"/>
          </a:xfrm>
          <a:prstGeom prst="rect">
            <a:avLst/>
          </a:prstGeom>
          <a:solidFill>
            <a:srgbClr val="1B2A3D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99048" y="336499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190488" y="4096512"/>
            <a:ext cx="10972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88936" y="3291840"/>
            <a:ext cx="1280160" cy="1463040"/>
          </a:xfrm>
          <a:prstGeom prst="rect">
            <a:avLst/>
          </a:prstGeom>
          <a:solidFill>
            <a:srgbClr val="1B2A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88936" y="336499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7580376" y="4096512"/>
            <a:ext cx="10972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built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HEXA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Tools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was made for a reason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56032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Hexa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Tool?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(TypeScript)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components, quiz state,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components speed up development; strong typing reduces runtime bugs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 &amp; dev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HMR (hot module replacement) speeds up testing; lighter than Create React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Question Bank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all questions, options, answers and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Tutors can add new scenarios without touching code — content is separated from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Speech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narration of questions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browser API — no extra dependency; supports WCAG 2.1 AA accessibility (Meeting 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(custom)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layout, animations, game feel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external CSS framework dependency; full control over visual design and branding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control, commit history, collaboration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commits by Adlhx alone; branch 'start' — provides full audit trail for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task board, ownership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Kanban board shows who did what and when — direct evidence for assessors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Collaboration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· GitHub · Meeting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743200" cy="384048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Microsoft Planner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128016" cy="12801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7007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Group board with Sprint buckets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128016" cy="12801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0848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assigned to individual members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128016" cy="12801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468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dates and completion tracking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128016" cy="12801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8529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evidence of role ownership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2560320" cy="146304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33375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Planner board showing task buckets and assignments 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1097280"/>
            <a:ext cx="2743200" cy="3840480"/>
          </a:xfrm>
          <a:prstGeom prst="rect">
            <a:avLst/>
          </a:prstGeom>
          <a:solidFill>
            <a:srgbClr val="1B2A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09728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 Commits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10128" y="1737360"/>
            <a:ext cx="128016" cy="128016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17007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commits by Adlhx (May 20 – Jun 6 2026)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2121408"/>
            <a:ext cx="128016" cy="128016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20848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start | Repo: wlaa41/CoventryUnivesity_503IT_Hexa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2505456"/>
            <a:ext cx="128016" cy="128016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468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cover frontend, CSV fixes, bug BUG-108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0128" y="2889504"/>
            <a:ext cx="128016" cy="128016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28529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history shows code review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64408" y="3337560"/>
            <a:ext cx="2560320" cy="146304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264408" y="33375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GitHub commits filtered to Adlhx 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71616" y="1097280"/>
            <a:ext cx="2743200" cy="3840480"/>
          </a:xfrm>
          <a:prstGeom prst="rect">
            <a:avLst/>
          </a:prstGeom>
          <a:solidFill>
            <a:srgbClr val="1B2A3D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1097280"/>
            <a:ext cx="274320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Meeting Minutes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08776" y="1737360"/>
            <a:ext cx="128016" cy="128016"/>
          </a:xfrm>
          <a:prstGeom prst="oval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7007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sprint meetings documented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08776" y="2121408"/>
            <a:ext cx="128016" cy="128016"/>
          </a:xfrm>
          <a:prstGeom prst="oval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0848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Abdullah: chaired Mtg 9, minutes recorder Mtg 10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08776" y="2505456"/>
            <a:ext cx="128016" cy="128016"/>
          </a:xfrm>
          <a:prstGeom prst="oval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468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owner (Mtg 11)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08776" y="2889504"/>
            <a:ext cx="128016" cy="128016"/>
          </a:xfrm>
          <a:prstGeom prst="oval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8529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commendation (Mtg 12)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63056" y="3337560"/>
            <a:ext cx="2560320" cy="146304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163056" y="33375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Meeting minutes showing attendance &amp; actions 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503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HEXA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Improvements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· Peer Review · Before &amp; After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1920240" cy="1325880"/>
          </a:xfrm>
          <a:prstGeom prst="rect">
            <a:avLst/>
          </a:prstGeom>
          <a:solidFill>
            <a:srgbClr val="1B2A3D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216152"/>
            <a:ext cx="192024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872234"/>
            <a:ext cx="17373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(acceptable ≥ 68)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1143000"/>
            <a:ext cx="1920240" cy="1325880"/>
          </a:xfrm>
          <a:prstGeom prst="rect">
            <a:avLst/>
          </a:prstGeom>
          <a:solidFill>
            <a:srgbClr val="1B2A3D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1216152"/>
            <a:ext cx="192024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68880" y="1872234"/>
            <a:ext cx="17373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1920240" cy="1325880"/>
          </a:xfrm>
          <a:prstGeom prst="rect">
            <a:avLst/>
          </a:prstGeom>
          <a:solidFill>
            <a:srgbClr val="1B2A3D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1216152"/>
            <a:ext cx="192024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26280" y="1872234"/>
            <a:ext cx="173736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user-tested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1143000"/>
            <a:ext cx="2286000" cy="1325880"/>
          </a:xfrm>
          <a:prstGeom prst="rect">
            <a:avLst/>
          </a:prstGeom>
          <a:solidFill>
            <a:srgbClr val="1B2A3D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216152"/>
            <a:ext cx="228600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583680" y="1872234"/>
            <a:ext cx="210312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chaired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SUS session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6060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After: Key Improvements from User Testing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44368"/>
          <a:ext cx="8503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3063240"/>
                <a:gridCol w="11430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Implemented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button not obvious on small screens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 session (Mtg 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Enlarged icon, repositioned above question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Mtg 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message too brief — users didn't know why they were wrong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review (Mtg 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 explanation text in CSV — added 'Why?' 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Mtg 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not running on fresh clone (BUG-108)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testing (GitHub)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 hexa-quiz/frontend → npm run build — documented in BUG-108-Solutions.md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Mtg 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display confusing at end of quiz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 (Mtg 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percentage + 'Try again' prompt with encouragement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Mtg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members — clear ownership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251960" cy="1170432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795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Sijan Bhandari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4356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/ Chairperson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627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project direction across all 12 sprints. Chaired majority of meetings. Aligned final presentation structure. Coordinated deliverables between sub-teams.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207568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Meeting chair: Mtg 1, 2, 3, 4, 6, 7, 8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251960" cy="1170432"/>
          </a:xfrm>
          <a:prstGeom prst="rect">
            <a:avLst/>
          </a:prstGeom>
          <a:solidFill>
            <a:srgbClr val="1B2A3D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97280"/>
            <a:ext cx="73152" cy="1170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1795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Abdhullah Badhurdeen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14356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Analyst / QA Engineer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1627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commits on branch 'start' (May 20–Jun 6). Conducted WCAG 2.1 AA accessibility audit (Mtg 10). Chaired SUS user-testing session (Mtg 9). Owned live demo (Mtg 11). Retrospective commendation received (Mtg 12).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73752" y="2075688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GitHub: Adlhx | 22 commits | BUG-108 fix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359152"/>
            <a:ext cx="4251960" cy="1170432"/>
          </a:xfrm>
          <a:prstGeom prst="rect">
            <a:avLst/>
          </a:prstGeom>
          <a:solidFill>
            <a:srgbClr val="1B2A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59152"/>
            <a:ext cx="7315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441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Jimee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26974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/ Lead Developer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88950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meeting records and action logs. Led front-end implementation of quiz state management. Integrated CSV loading logic into App.jsx.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" y="3337560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Minutes recorder: Mtg 2, 3, 4, 5, 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2359152"/>
            <a:ext cx="4251960" cy="1170432"/>
          </a:xfrm>
          <a:prstGeom prst="rect">
            <a:avLst/>
          </a:prstGeom>
          <a:solidFill>
            <a:srgbClr val="1B2A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359152"/>
            <a:ext cx="73152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441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Bhandari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73752" y="26974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Architect / Planner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73752" y="288950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component architecture. Managed Microsoft Planner board — task breakdown, sprint buckets and deadline tracking. System flow documentation.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73752" y="3337560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Planner board owner | Architecture diagrams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621024"/>
            <a:ext cx="4251960" cy="1170432"/>
          </a:xfrm>
          <a:prstGeom prst="rect">
            <a:avLst/>
          </a:prstGeom>
          <a:solidFill>
            <a:srgbClr val="1B2A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21024"/>
            <a:ext cx="73152" cy="1170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703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Shah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8912" y="39593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Associate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" y="415137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cyberbullying, phishing and online risk statistics. Sourced Ofcom 2024 and CyberCrew 2025 data. Contributed scenario content for CSV question bank.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8912" y="4599432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Meeting notes: Mtg 1, 5 | Question bank content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3621024"/>
            <a:ext cx="4251960" cy="1170432"/>
          </a:xfrm>
          <a:prstGeom prst="rect">
            <a:avLst/>
          </a:prstGeom>
          <a:solidFill>
            <a:srgbClr val="1B2A3D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621024"/>
            <a:ext cx="73152" cy="11704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703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Nabin Sunar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73752" y="39593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Support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73752" y="415137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CSS styling and responsive layout implementation. Assisted with documentation, README and final delivery packaging. User testing support.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73752" y="4599432"/>
            <a:ext cx="3977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Planner tasks | Final delivery documentation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20040" y="487375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add a group photo or meeting screenshot above to strengthen visual evidence.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Q&amp;A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Hexa?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74920"/>
            <a:ext cx="822960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  ·  TEAM 503IT  ·  COVENTRY UNIVERSITY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2344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123444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(0–3 mths)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64208" y="1261872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12252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to track class progress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64208" y="1591056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 banks: 100+ scenarios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64208" y="1920240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18836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redesign for phones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50592"/>
            <a:ext cx="123444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50592"/>
            <a:ext cx="123444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(3–6 mths)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64208" y="2523744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47088" y="24871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and badge system (gamification)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64208" y="2852928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2816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(Welsh, Arabic, Urdu)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64208" y="3182112"/>
            <a:ext cx="12801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7088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with user accounts and saved progress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12464"/>
            <a:ext cx="1234440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12464"/>
            <a:ext cx="123444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(6–12 mths)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64208" y="3785616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7088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LMS integration (Moodle / Google Classroom)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64208" y="4114800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47088" y="40782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adaptive questions (difficulty scales)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664208" y="4443984"/>
            <a:ext cx="128016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7088" y="44074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via PWA (Progressive Web App)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143000"/>
            <a:ext cx="4160520" cy="3749040"/>
          </a:xfrm>
          <a:prstGeom prst="rect">
            <a:avLst/>
          </a:prstGeom>
          <a:solidFill>
            <a:srgbClr val="1B2A3D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2344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Q&amp;A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browser-based, not an app?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1947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 install needed — works in school/college labs on any device immediately.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update questions?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27066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Edit the CSV file — no code changes required. Tutors can do this.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209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user data stored?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34655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 — fully stateless. No login, no personal data collected (GDPR-safe by design).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968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internet is slow?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0060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Phase 3 roadmap includes PWA offline mode. Current build is lightweight (~2MB).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Thank you — Hexa is live and ready for demo.  Questions welcome!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Hexa: Cyber-Smart Gaming for Education</dc:title>
  <dc:subject>PptxGenJS Presentation</dc:subject>
  <dc:creator>Team Hexa – 503IT, Coventry University</dc:creator>
  <cp:lastModifiedBy>Team Hexa – 503IT, Coventry University</cp:lastModifiedBy>
  <cp:revision>1</cp:revision>
  <dcterms:created xsi:type="dcterms:W3CDTF">2026-06-09T15:37:51Z</dcterms:created>
  <dcterms:modified xsi:type="dcterms:W3CDTF">2026-06-09T15:37:51Z</dcterms:modified>
</cp:coreProperties>
</file>