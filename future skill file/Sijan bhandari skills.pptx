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47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FUTURE CAREER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594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02920" y="135331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02920" y="2331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paid role in UK tech —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future of cloud infrastructure.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154680"/>
            <a:ext cx="3291840" cy="475488"/>
          </a:xfrm>
          <a:prstGeom prst="roundRect">
            <a:avLst>
              <a:gd name="adj" fmla="val 19231"/>
            </a:avLst>
          </a:prstGeom>
          <a:solidFill>
            <a:srgbClr val="7B2FBE">
              <a:alpha val="80000"/>
            </a:srgbClr>
          </a:solidFill>
          <a:ln w="10160">
            <a:solidFill>
              <a:srgbClr val="7B2FB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186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2004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studying: Computing Science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37947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D1E35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" y="3794760"/>
            <a:ext cx="13716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858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£140k+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02920" y="4233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UK salary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011680" y="37947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D1E35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011680" y="3794760"/>
            <a:ext cx="1371600" cy="502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11680" y="3858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yrs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011680" y="4233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get there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520440" y="379476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D1E35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20440" y="3794760"/>
            <a:ext cx="13716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38587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3520440" y="4233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paid CS job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669280" y="365760"/>
            <a:ext cx="3154680" cy="4434840"/>
          </a:xfrm>
          <a:prstGeom prst="roundRect">
            <a:avLst>
              <a:gd name="adj" fmla="val 3478"/>
            </a:avLst>
          </a:prstGeom>
          <a:solidFill>
            <a:srgbClr val="0D1E35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02920"/>
            <a:ext cx="1463040" cy="10058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60720" y="15727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ARCHITECT?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833872" y="226771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053328" y="22128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entire cloud systems for companies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833872" y="267004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053328" y="261518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cloud platform to use (AWS, Azure, GCP)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833872" y="3072384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053328" y="30175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sure systems are fast, secure &amp; scalable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833872" y="347472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053328" y="34198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teams of engineers &amp; developers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833872" y="387705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053328" y="382219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the highest salary in UK tech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3807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152" cy="1380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56032" y="137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6032" y="3840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Architect — What Companies Expect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20040" y="1536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187452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874520"/>
            <a:ext cx="502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1480" y="1961388"/>
            <a:ext cx="237744" cy="237744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796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929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cloud systems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49808" y="20939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full architecture of cloud environments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0040" y="2368296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2368296"/>
            <a:ext cx="502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1480" y="2455164"/>
            <a:ext cx="237744" cy="237744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47345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2423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security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49808" y="25877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all data with encryption &amp; access controls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20040" y="2862072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862072"/>
            <a:ext cx="502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1480" y="2948940"/>
            <a:ext cx="237744" cy="237744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96722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2916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infrastructure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49808" y="30815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servers, networks &amp; storage in the cloud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3355848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3355848"/>
            <a:ext cx="502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11480" y="3442716"/>
            <a:ext cx="237744" cy="237744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461004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9808" y="3410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infrastructure code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749808" y="35753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Terraform &amp; scripts to automate cloud setups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20040" y="3849624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0040" y="3849624"/>
            <a:ext cx="502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11480" y="3936492"/>
            <a:ext cx="237744" cy="237744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95478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49808" y="3904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performance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749808" y="40690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systems faster, cheaper &amp; more reliable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320040" y="4343400"/>
            <a:ext cx="41148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320040" y="4343400"/>
            <a:ext cx="50292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11480" y="4430268"/>
            <a:ext cx="237744" cy="237744"/>
          </a:xfrm>
          <a:prstGeom prst="ellipse">
            <a:avLst/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4448556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49808" y="43982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technical teams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749808" y="45628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mentor engineers to deliver projects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4754880" y="15361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4754880" y="187452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060C1F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4754880" y="1874520"/>
            <a:ext cx="5029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919472" y="1920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SALARY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4919472" y="2093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£95,000 – £140,000+</a:t>
            </a:r>
            <a:endParaRPr lang="en-US" sz="2200" dirty="0"/>
          </a:p>
        </p:txBody>
      </p:sp>
      <p:sp>
        <p:nvSpPr>
          <p:cNvPr id="48" name="Text 39"/>
          <p:cNvSpPr/>
          <p:nvPr/>
        </p:nvSpPr>
        <p:spPr>
          <a:xfrm>
            <a:off x="4919472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paid role in UK tech  ·  London average: £132,000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4754880" y="2834640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754880" y="2834640"/>
            <a:ext cx="50292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4910328" y="28986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years experience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7269480" y="2898648"/>
            <a:ext cx="1463040" cy="182880"/>
          </a:xfrm>
          <a:prstGeom prst="roundRect">
            <a:avLst>
              <a:gd name="adj" fmla="val 40000"/>
            </a:avLst>
          </a:prstGeom>
          <a:solidFill>
            <a:srgbClr val="EF4444">
              <a:alpha val="16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7269480" y="28986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54" name="Shape 45"/>
          <p:cNvSpPr/>
          <p:nvPr/>
        </p:nvSpPr>
        <p:spPr>
          <a:xfrm>
            <a:off x="4754880" y="3218688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4754880" y="3218688"/>
            <a:ext cx="50292" cy="31089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4910328" y="32826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Science degree</a:t>
            </a:r>
            <a:endParaRPr lang="en-US" sz="1100" dirty="0"/>
          </a:p>
        </p:txBody>
      </p:sp>
      <p:sp>
        <p:nvSpPr>
          <p:cNvPr id="57" name="Shape 48"/>
          <p:cNvSpPr/>
          <p:nvPr/>
        </p:nvSpPr>
        <p:spPr>
          <a:xfrm>
            <a:off x="7269480" y="3282696"/>
            <a:ext cx="1463040" cy="182880"/>
          </a:xfrm>
          <a:prstGeom prst="roundRect">
            <a:avLst>
              <a:gd name="adj" fmla="val 40000"/>
            </a:avLst>
          </a:prstGeom>
          <a:solidFill>
            <a:srgbClr val="7B2FBE">
              <a:alpha val="16000"/>
            </a:srgbClr>
          </a:solidFill>
          <a:ln w="12700">
            <a:solidFill>
              <a:srgbClr val="7B2FBE">
                <a:alpha val="45000"/>
              </a:srgbClr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7269480" y="32826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750" dirty="0"/>
          </a:p>
        </p:txBody>
      </p:sp>
      <p:sp>
        <p:nvSpPr>
          <p:cNvPr id="59" name="Shape 50"/>
          <p:cNvSpPr/>
          <p:nvPr/>
        </p:nvSpPr>
        <p:spPr>
          <a:xfrm>
            <a:off x="4754880" y="3602736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0" name="Shape 51"/>
          <p:cNvSpPr/>
          <p:nvPr/>
        </p:nvSpPr>
        <p:spPr>
          <a:xfrm>
            <a:off x="4754880" y="3602736"/>
            <a:ext cx="50292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4910328" y="36667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 expertise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7269480" y="3666744"/>
            <a:ext cx="1463040" cy="182880"/>
          </a:xfrm>
          <a:prstGeom prst="roundRect">
            <a:avLst>
              <a:gd name="adj" fmla="val 40000"/>
            </a:avLst>
          </a:prstGeom>
          <a:solidFill>
            <a:srgbClr val="00B4D8">
              <a:alpha val="16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7269480" y="36667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50" dirty="0"/>
          </a:p>
        </p:txBody>
      </p:sp>
      <p:sp>
        <p:nvSpPr>
          <p:cNvPr id="64" name="Shape 55"/>
          <p:cNvSpPr/>
          <p:nvPr/>
        </p:nvSpPr>
        <p:spPr>
          <a:xfrm>
            <a:off x="4754880" y="3986784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5" name="Shape 56"/>
          <p:cNvSpPr/>
          <p:nvPr/>
        </p:nvSpPr>
        <p:spPr>
          <a:xfrm>
            <a:off x="4754880" y="3986784"/>
            <a:ext cx="50292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4910328" y="4050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100" dirty="0"/>
          </a:p>
        </p:txBody>
      </p:sp>
      <p:sp>
        <p:nvSpPr>
          <p:cNvPr id="67" name="Shape 58"/>
          <p:cNvSpPr/>
          <p:nvPr/>
        </p:nvSpPr>
        <p:spPr>
          <a:xfrm>
            <a:off x="7269480" y="4050792"/>
            <a:ext cx="1463040" cy="182880"/>
          </a:xfrm>
          <a:prstGeom prst="roundRect">
            <a:avLst>
              <a:gd name="adj" fmla="val 40000"/>
            </a:avLst>
          </a:prstGeom>
          <a:solidFill>
            <a:srgbClr val="22C55E">
              <a:alpha val="16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7269480" y="40507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750" dirty="0"/>
          </a:p>
        </p:txBody>
      </p:sp>
      <p:sp>
        <p:nvSpPr>
          <p:cNvPr id="69" name="Shape 60"/>
          <p:cNvSpPr/>
          <p:nvPr/>
        </p:nvSpPr>
        <p:spPr>
          <a:xfrm>
            <a:off x="4754880" y="4370832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0" name="Shape 61"/>
          <p:cNvSpPr/>
          <p:nvPr/>
        </p:nvSpPr>
        <p:spPr>
          <a:xfrm>
            <a:off x="4754880" y="4370832"/>
            <a:ext cx="50292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2"/>
          <p:cNvSpPr/>
          <p:nvPr/>
        </p:nvSpPr>
        <p:spPr>
          <a:xfrm>
            <a:off x="4910328" y="44348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(Infrastructure as Code)</a:t>
            </a:r>
            <a:endParaRPr lang="en-US" sz="1100" dirty="0"/>
          </a:p>
        </p:txBody>
      </p:sp>
      <p:sp>
        <p:nvSpPr>
          <p:cNvPr id="72" name="Shape 63"/>
          <p:cNvSpPr/>
          <p:nvPr/>
        </p:nvSpPr>
        <p:spPr>
          <a:xfrm>
            <a:off x="7269480" y="4434840"/>
            <a:ext cx="1463040" cy="182880"/>
          </a:xfrm>
          <a:prstGeom prst="roundRect">
            <a:avLst>
              <a:gd name="adj" fmla="val 40000"/>
            </a:avLst>
          </a:prstGeom>
          <a:solidFill>
            <a:srgbClr val="F59E0B">
              <a:alpha val="16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7269480" y="4434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750" dirty="0"/>
          </a:p>
        </p:txBody>
      </p:sp>
      <p:sp>
        <p:nvSpPr>
          <p:cNvPr id="74" name="Shape 65"/>
          <p:cNvSpPr/>
          <p:nvPr/>
        </p:nvSpPr>
        <p:spPr>
          <a:xfrm>
            <a:off x="4754880" y="4754880"/>
            <a:ext cx="40690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5" name="Shape 66"/>
          <p:cNvSpPr/>
          <p:nvPr/>
        </p:nvSpPr>
        <p:spPr>
          <a:xfrm>
            <a:off x="4754880" y="4754880"/>
            <a:ext cx="50292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6" name="Text 67"/>
          <p:cNvSpPr/>
          <p:nvPr/>
        </p:nvSpPr>
        <p:spPr>
          <a:xfrm>
            <a:off x="4910328" y="48188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communication</a:t>
            </a:r>
            <a:endParaRPr lang="en-US" sz="1100" dirty="0"/>
          </a:p>
        </p:txBody>
      </p:sp>
      <p:sp>
        <p:nvSpPr>
          <p:cNvPr id="77" name="Shape 68"/>
          <p:cNvSpPr/>
          <p:nvPr/>
        </p:nvSpPr>
        <p:spPr>
          <a:xfrm>
            <a:off x="7269480" y="4818888"/>
            <a:ext cx="1463040" cy="182880"/>
          </a:xfrm>
          <a:prstGeom prst="roundRect">
            <a:avLst>
              <a:gd name="adj" fmla="val 40000"/>
            </a:avLst>
          </a:prstGeom>
          <a:solidFill>
            <a:srgbClr val="64748B">
              <a:alpha val="16000"/>
            </a:srgbClr>
          </a:solidFill>
          <a:ln w="12700">
            <a:solidFill>
              <a:srgbClr val="64748B">
                <a:alpha val="45000"/>
              </a:srgbClr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7269480" y="48188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 TO CLOUD ARCHITECT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Computing Science Student → £140k Career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61872"/>
            <a:ext cx="1664208" cy="3337560"/>
          </a:xfrm>
          <a:prstGeom prst="roundRect">
            <a:avLst>
              <a:gd name="adj" fmla="val 5495"/>
            </a:avLst>
          </a:prstGeom>
          <a:solidFill>
            <a:srgbClr val="0A204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1261872"/>
            <a:ext cx="166420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371600"/>
            <a:ext cx="585216" cy="5852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C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0574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6344" y="22677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Science Student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1389888" cy="0"/>
          </a:xfrm>
          <a:prstGeom prst="line">
            <a:avLst/>
          </a:prstGeom>
          <a:noFill/>
          <a:ln w="508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1208" y="2880360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foundations in networking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" y="3227832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 &amp; Linux basics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21208" y="3575304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cloud computing modules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93976" y="1261872"/>
            <a:ext cx="1664208" cy="3337560"/>
          </a:xfrm>
          <a:prstGeom prst="roundRect">
            <a:avLst>
              <a:gd name="adj" fmla="val 5495"/>
            </a:avLst>
          </a:prstGeom>
          <a:solidFill>
            <a:srgbClr val="0D1E35"/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93976" y="1261872"/>
            <a:ext cx="1664208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33472" y="1371600"/>
            <a:ext cx="585216" cy="585216"/>
          </a:xfrm>
          <a:prstGeom prst="ellipse">
            <a:avLst/>
          </a:prstGeom>
          <a:solidFill>
            <a:srgbClr val="4ADE80">
              <a:alpha val="20000"/>
            </a:srgbClr>
          </a:solidFill>
          <a:ln w="10160">
            <a:solidFill>
              <a:srgbClr val="4ADE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33472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2093976" y="20574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148840" y="22677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Cloud / DevOps Engineer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231136" y="2743200"/>
            <a:ext cx="1389888" cy="0"/>
          </a:xfrm>
          <a:prstGeom prst="line">
            <a:avLst/>
          </a:prstGeom>
          <a:noFill/>
          <a:ln w="508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203704" y="2880360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22576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AWS Cloud Practitioner cert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203704" y="3227832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22576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Docker &amp; CI/CD pipelines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203704" y="3575304"/>
            <a:ext cx="73152" cy="7315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22576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cloud job in London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776472" y="1261872"/>
            <a:ext cx="1664208" cy="3337560"/>
          </a:xfrm>
          <a:prstGeom prst="roundRect">
            <a:avLst>
              <a:gd name="adj" fmla="val 5495"/>
            </a:avLst>
          </a:prstGeom>
          <a:solidFill>
            <a:srgbClr val="0D1E35"/>
          </a:solidFill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776472" y="1261872"/>
            <a:ext cx="16642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15968" y="1371600"/>
            <a:ext cx="585216" cy="585216"/>
          </a:xfrm>
          <a:prstGeom prst="ellipse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15968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776472" y="20574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3831336" y="22677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913632" y="2743200"/>
            <a:ext cx="1389888" cy="0"/>
          </a:xfrm>
          <a:prstGeom prst="line">
            <a:avLst/>
          </a:prstGeom>
          <a:noFill/>
          <a:ln w="508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886200" y="28803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05072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AWS Solutions Architect cert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886200" y="3227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005072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multi-cloud systems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886200" y="357530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005072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£55k–£75k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458968" y="1261872"/>
            <a:ext cx="1664208" cy="3337560"/>
          </a:xfrm>
          <a:prstGeom prst="roundRect">
            <a:avLst>
              <a:gd name="adj" fmla="val 5495"/>
            </a:avLst>
          </a:prstGeom>
          <a:solidFill>
            <a:srgbClr val="0D1E35"/>
          </a:solidFill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58968" y="1261872"/>
            <a:ext cx="1664208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998464" y="1371600"/>
            <a:ext cx="585216" cy="585216"/>
          </a:xfrm>
          <a:prstGeom prst="ellipse">
            <a:avLst/>
          </a:prstGeom>
          <a:solidFill>
            <a:srgbClr val="FB923C">
              <a:alpha val="20000"/>
            </a:srgbClr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98464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5458968" y="20574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6–9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5513832" y="22677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Cloud Engineer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596128" y="2743200"/>
            <a:ext cx="1389888" cy="0"/>
          </a:xfrm>
          <a:prstGeom prst="line">
            <a:avLst/>
          </a:prstGeom>
          <a:noFill/>
          <a:ln w="508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568696" y="2880360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87568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major cloud projects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568696" y="3227832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687568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junior engineers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568696" y="3575304"/>
            <a:ext cx="73152" cy="7315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687568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£75k–£95k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141464" y="1261872"/>
            <a:ext cx="1664208" cy="3337560"/>
          </a:xfrm>
          <a:prstGeom prst="roundRect">
            <a:avLst>
              <a:gd name="adj" fmla="val 5495"/>
            </a:avLst>
          </a:prstGeom>
          <a:solidFill>
            <a:srgbClr val="0D1E35"/>
          </a:solidFill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141464" y="1261872"/>
            <a:ext cx="1664208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680960" y="1371600"/>
            <a:ext cx="585216" cy="585216"/>
          </a:xfrm>
          <a:prstGeom prst="ellipse">
            <a:avLst/>
          </a:prstGeom>
          <a:solidFill>
            <a:srgbClr val="C084FC">
              <a:alpha val="20000"/>
            </a:srgbClr>
          </a:solidFill>
          <a:ln w="10160">
            <a:solidFill>
              <a:srgbClr val="C084FC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680960" y="1371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7141464" y="205740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10+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7196328" y="22677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7278624" y="2743200"/>
            <a:ext cx="1389888" cy="0"/>
          </a:xfrm>
          <a:prstGeom prst="line">
            <a:avLst/>
          </a:prstGeom>
          <a:noFill/>
          <a:ln w="508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251192" y="2880360"/>
            <a:ext cx="73152" cy="7315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370064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strategy for big firms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7251192" y="3227832"/>
            <a:ext cx="73152" cy="7315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370064" y="31638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Amazon, HSBC level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251192" y="3575304"/>
            <a:ext cx="73152" cy="7315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370064" y="3511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£95k–£140k+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2066544" y="2450592"/>
            <a:ext cx="36576" cy="0"/>
          </a:xfrm>
          <a:prstGeom prst="line">
            <a:avLst/>
          </a:prstGeom>
          <a:noFill/>
          <a:ln w="1016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3749040" y="2450592"/>
            <a:ext cx="36576" cy="0"/>
          </a:xfrm>
          <a:prstGeom prst="line">
            <a:avLst/>
          </a:prstGeom>
          <a:noFill/>
          <a:ln w="1016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431536" y="2450592"/>
            <a:ext cx="36576" cy="0"/>
          </a:xfrm>
          <a:prstGeom prst="line">
            <a:avLst/>
          </a:prstGeom>
          <a:noFill/>
          <a:ln w="1016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14032" y="2450592"/>
            <a:ext cx="36576" cy="0"/>
          </a:xfrm>
          <a:prstGeom prst="line">
            <a:avLst/>
          </a:prstGeom>
          <a:noFill/>
          <a:ln w="1016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14400" y="4709160"/>
            <a:ext cx="7315200" cy="347472"/>
          </a:xfrm>
          <a:prstGeom prst="roundRect">
            <a:avLst>
              <a:gd name="adj" fmla="val 15789"/>
            </a:avLst>
          </a:prstGeom>
          <a:solidFill>
            <a:srgbClr val="000000">
              <a:alpha val="4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7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745736"/>
            <a:ext cx="237744" cy="237744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1389888" y="47365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computing science degree is the foundation. Every step builds on the last — the journey starts NOW.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2026-06-03T20:51:36Z</dcterms:created>
  <dcterms:modified xsi:type="dcterms:W3CDTF">2026-06-03T20:51:36Z</dcterms:modified>
</cp:coreProperties>
</file>