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7562088" cy="10689336"/>
  <p:notesSz cx="10689336" cy="756208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1417320"/>
          </a:xfrm>
          <a:prstGeom prst="rect">
            <a:avLst/>
          </a:prstGeom>
          <a:solidFill>
            <a:srgbClr val="1A223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56032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A896"/>
                </a:solidFill>
              </a:rPr>
              <a:t>⬡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1188720" y="310896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QA / TEST ENGINEER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188720" y="804672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</a:rPr>
              <a:t>My 15 Key Responsibilities — explained simply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691640"/>
            <a:ext cx="2142744" cy="1483157"/>
          </a:xfrm>
          <a:prstGeom prst="roundRect">
            <a:avLst>
              <a:gd name="adj" fmla="val 4932"/>
            </a:avLst>
          </a:prstGeom>
          <a:solidFill>
            <a:srgbClr val="F4F7F6"/>
          </a:solidFill>
          <a:ln w="12700">
            <a:solidFill>
              <a:srgbClr val="E2E8E5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75488" y="1801368"/>
            <a:ext cx="384048" cy="38404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8" name="Text 6"/>
          <p:cNvSpPr/>
          <p:nvPr/>
        </p:nvSpPr>
        <p:spPr>
          <a:xfrm>
            <a:off x="475488" y="18013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850136" y="178308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🧪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493776" y="2258568"/>
            <a:ext cx="18867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A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Automated Tests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93776" y="2607869"/>
            <a:ext cx="1886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the screens and APIs automatically.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709672" y="1691640"/>
            <a:ext cx="2142744" cy="1483157"/>
          </a:xfrm>
          <a:prstGeom prst="roundRect">
            <a:avLst>
              <a:gd name="adj" fmla="val 4932"/>
            </a:avLst>
          </a:prstGeom>
          <a:solidFill>
            <a:srgbClr val="F4F7F6"/>
          </a:solidFill>
          <a:ln w="12700">
            <a:solidFill>
              <a:srgbClr val="E2E8E5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819400" y="1801368"/>
            <a:ext cx="384048" cy="384048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14" name="Text 12"/>
          <p:cNvSpPr/>
          <p:nvPr/>
        </p:nvSpPr>
        <p:spPr>
          <a:xfrm>
            <a:off x="2819400" y="18013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194048" y="178308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🚀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2837688" y="2258568"/>
            <a:ext cx="18867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A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Tests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2837688" y="2607869"/>
            <a:ext cx="1886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it handles heavy load (k6).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053584" y="1691640"/>
            <a:ext cx="2142744" cy="1483157"/>
          </a:xfrm>
          <a:prstGeom prst="roundRect">
            <a:avLst>
              <a:gd name="adj" fmla="val 4932"/>
            </a:avLst>
          </a:prstGeom>
          <a:solidFill>
            <a:srgbClr val="F4F7F6"/>
          </a:solidFill>
          <a:ln w="12700">
            <a:solidFill>
              <a:srgbClr val="E2E8E5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163312" y="1801368"/>
            <a:ext cx="384048" cy="384048"/>
          </a:xfrm>
          <a:prstGeom prst="ellipse">
            <a:avLst/>
          </a:prstGeom>
          <a:solidFill>
            <a:srgbClr val="FFB400"/>
          </a:solidFill>
          <a:ln/>
        </p:spPr>
      </p:sp>
      <p:sp>
        <p:nvSpPr>
          <p:cNvPr id="20" name="Text 18"/>
          <p:cNvSpPr/>
          <p:nvPr/>
        </p:nvSpPr>
        <p:spPr>
          <a:xfrm>
            <a:off x="5163312" y="18013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537960" y="178308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🔁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5181600" y="2258568"/>
            <a:ext cx="18867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A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Auto-Run in Pipeline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181600" y="2607869"/>
            <a:ext cx="1886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 run by themselves in GitLab.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65760" y="3375965"/>
            <a:ext cx="2142744" cy="1483157"/>
          </a:xfrm>
          <a:prstGeom prst="roundRect">
            <a:avLst>
              <a:gd name="adj" fmla="val 4932"/>
            </a:avLst>
          </a:prstGeom>
          <a:solidFill>
            <a:srgbClr val="F4F7F6"/>
          </a:solidFill>
          <a:ln w="12700">
            <a:solidFill>
              <a:srgbClr val="E2E8E5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" y="3485693"/>
            <a:ext cx="384048" cy="38404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6" name="Text 24"/>
          <p:cNvSpPr/>
          <p:nvPr/>
        </p:nvSpPr>
        <p:spPr>
          <a:xfrm>
            <a:off x="475488" y="3485693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850136" y="3467405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🛠️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493776" y="3942893"/>
            <a:ext cx="18867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A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 Flaky Tests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93776" y="4292194"/>
            <a:ext cx="1886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results stable and reliable.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709672" y="3375965"/>
            <a:ext cx="2142744" cy="1483157"/>
          </a:xfrm>
          <a:prstGeom prst="roundRect">
            <a:avLst>
              <a:gd name="adj" fmla="val 4932"/>
            </a:avLst>
          </a:prstGeom>
          <a:solidFill>
            <a:srgbClr val="F4F7F6"/>
          </a:solidFill>
          <a:ln w="12700">
            <a:solidFill>
              <a:srgbClr val="E2E8E5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819400" y="3485693"/>
            <a:ext cx="384048" cy="384048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32" name="Text 30"/>
          <p:cNvSpPr/>
          <p:nvPr/>
        </p:nvSpPr>
        <p:spPr>
          <a:xfrm>
            <a:off x="2819400" y="3485693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194048" y="3467405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🤝</a:t>
            </a:r>
            <a:endParaRPr lang="en-US" sz="2600" dirty="0"/>
          </a:p>
        </p:txBody>
      </p:sp>
      <p:sp>
        <p:nvSpPr>
          <p:cNvPr id="34" name="Text 32"/>
          <p:cNvSpPr/>
          <p:nvPr/>
        </p:nvSpPr>
        <p:spPr>
          <a:xfrm>
            <a:off x="2837688" y="3942893"/>
            <a:ext cx="18867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A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With the Team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2837688" y="4292194"/>
            <a:ext cx="1886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 how the app should behave.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5053584" y="3375965"/>
            <a:ext cx="2142744" cy="1483157"/>
          </a:xfrm>
          <a:prstGeom prst="roundRect">
            <a:avLst>
              <a:gd name="adj" fmla="val 4932"/>
            </a:avLst>
          </a:prstGeom>
          <a:solidFill>
            <a:srgbClr val="F4F7F6"/>
          </a:solidFill>
          <a:ln w="12700">
            <a:solidFill>
              <a:srgbClr val="E2E8E5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5163312" y="3485693"/>
            <a:ext cx="384048" cy="384048"/>
          </a:xfrm>
          <a:prstGeom prst="ellipse">
            <a:avLst/>
          </a:prstGeom>
          <a:solidFill>
            <a:srgbClr val="FFB400"/>
          </a:solidFill>
          <a:ln/>
        </p:spPr>
      </p:sp>
      <p:sp>
        <p:nvSpPr>
          <p:cNvPr id="38" name="Text 36"/>
          <p:cNvSpPr/>
          <p:nvPr/>
        </p:nvSpPr>
        <p:spPr>
          <a:xfrm>
            <a:off x="5163312" y="3485693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537960" y="3467405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🔍</a:t>
            </a:r>
            <a:endParaRPr lang="en-US" sz="2600" dirty="0"/>
          </a:p>
        </p:txBody>
      </p:sp>
      <p:sp>
        <p:nvSpPr>
          <p:cNvPr id="40" name="Text 38"/>
          <p:cNvSpPr/>
          <p:nvPr/>
        </p:nvSpPr>
        <p:spPr>
          <a:xfrm>
            <a:off x="5181600" y="3942893"/>
            <a:ext cx="18867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A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Code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5181600" y="4292194"/>
            <a:ext cx="1886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tests clean and consistent.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365760" y="5060290"/>
            <a:ext cx="2142744" cy="1483157"/>
          </a:xfrm>
          <a:prstGeom prst="roundRect">
            <a:avLst>
              <a:gd name="adj" fmla="val 4932"/>
            </a:avLst>
          </a:prstGeom>
          <a:solidFill>
            <a:srgbClr val="F4F7F6"/>
          </a:solidFill>
          <a:ln w="12700">
            <a:solidFill>
              <a:srgbClr val="E2E8E5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475488" y="5170018"/>
            <a:ext cx="384048" cy="38404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44" name="Text 42"/>
          <p:cNvSpPr/>
          <p:nvPr/>
        </p:nvSpPr>
        <p:spPr>
          <a:xfrm>
            <a:off x="475488" y="517001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7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1850136" y="515173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🧩</a:t>
            </a:r>
            <a:endParaRPr lang="en-US" sz="2600" dirty="0"/>
          </a:p>
        </p:txBody>
      </p:sp>
      <p:sp>
        <p:nvSpPr>
          <p:cNvPr id="46" name="Text 44"/>
          <p:cNvSpPr/>
          <p:nvPr/>
        </p:nvSpPr>
        <p:spPr>
          <a:xfrm>
            <a:off x="493776" y="5627218"/>
            <a:ext cx="18867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A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Testable Features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493776" y="5976518"/>
            <a:ext cx="1886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Help design things that are easy to test.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2709672" y="5060290"/>
            <a:ext cx="2142744" cy="1483157"/>
          </a:xfrm>
          <a:prstGeom prst="roundRect">
            <a:avLst>
              <a:gd name="adj" fmla="val 4932"/>
            </a:avLst>
          </a:prstGeom>
          <a:solidFill>
            <a:srgbClr val="F4F7F6"/>
          </a:solidFill>
          <a:ln w="12700">
            <a:solidFill>
              <a:srgbClr val="E2E8E5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2819400" y="5170018"/>
            <a:ext cx="384048" cy="384048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50" name="Text 48"/>
          <p:cNvSpPr/>
          <p:nvPr/>
        </p:nvSpPr>
        <p:spPr>
          <a:xfrm>
            <a:off x="2819400" y="517001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8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4194048" y="515173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✅</a:t>
            </a:r>
            <a:endParaRPr lang="en-US" sz="2600" dirty="0"/>
          </a:p>
        </p:txBody>
      </p:sp>
      <p:sp>
        <p:nvSpPr>
          <p:cNvPr id="52" name="Text 50"/>
          <p:cNvSpPr/>
          <p:nvPr/>
        </p:nvSpPr>
        <p:spPr>
          <a:xfrm>
            <a:off x="2837688" y="5627218"/>
            <a:ext cx="18867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A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Pass/Fail Rules</a:t>
            </a:r>
            <a:endParaRPr lang="en-US" sz="1150" dirty="0"/>
          </a:p>
        </p:txBody>
      </p:sp>
      <p:sp>
        <p:nvSpPr>
          <p:cNvPr id="53" name="Text 51"/>
          <p:cNvSpPr/>
          <p:nvPr/>
        </p:nvSpPr>
        <p:spPr>
          <a:xfrm>
            <a:off x="2837688" y="5976518"/>
            <a:ext cx="1886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what 'done' really means.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5053584" y="5060290"/>
            <a:ext cx="2142744" cy="1483157"/>
          </a:xfrm>
          <a:prstGeom prst="roundRect">
            <a:avLst>
              <a:gd name="adj" fmla="val 4932"/>
            </a:avLst>
          </a:prstGeom>
          <a:solidFill>
            <a:srgbClr val="F4F7F6"/>
          </a:solidFill>
          <a:ln w="12700">
            <a:solidFill>
              <a:srgbClr val="E2E8E5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5163312" y="5170018"/>
            <a:ext cx="384048" cy="384048"/>
          </a:xfrm>
          <a:prstGeom prst="ellipse">
            <a:avLst/>
          </a:prstGeom>
          <a:solidFill>
            <a:srgbClr val="FFB400"/>
          </a:solidFill>
          <a:ln/>
        </p:spPr>
      </p:sp>
      <p:sp>
        <p:nvSpPr>
          <p:cNvPr id="56" name="Text 54"/>
          <p:cNvSpPr/>
          <p:nvPr/>
        </p:nvSpPr>
        <p:spPr>
          <a:xfrm>
            <a:off x="5163312" y="517001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9</a:t>
            </a:r>
            <a:endParaRPr lang="en-US" sz="1400" dirty="0"/>
          </a:p>
        </p:txBody>
      </p:sp>
      <p:sp>
        <p:nvSpPr>
          <p:cNvPr id="57" name="Text 55"/>
          <p:cNvSpPr/>
          <p:nvPr/>
        </p:nvSpPr>
        <p:spPr>
          <a:xfrm>
            <a:off x="6537960" y="515173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👥</a:t>
            </a:r>
            <a:endParaRPr lang="en-US" sz="2600" dirty="0"/>
          </a:p>
        </p:txBody>
      </p:sp>
      <p:sp>
        <p:nvSpPr>
          <p:cNvPr id="58" name="Text 56"/>
          <p:cNvSpPr/>
          <p:nvPr/>
        </p:nvSpPr>
        <p:spPr>
          <a:xfrm>
            <a:off x="5181600" y="5627218"/>
            <a:ext cx="18867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A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Up With QA</a:t>
            </a:r>
            <a:endParaRPr lang="en-US" sz="1150" dirty="0"/>
          </a:p>
        </p:txBody>
      </p:sp>
      <p:sp>
        <p:nvSpPr>
          <p:cNvPr id="59" name="Text 57"/>
          <p:cNvSpPr/>
          <p:nvPr/>
        </p:nvSpPr>
        <p:spPr>
          <a:xfrm>
            <a:off x="5181600" y="5976518"/>
            <a:ext cx="1886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Automation + manual testing together.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365760" y="6744614"/>
            <a:ext cx="2142744" cy="1483157"/>
          </a:xfrm>
          <a:prstGeom prst="roundRect">
            <a:avLst>
              <a:gd name="adj" fmla="val 4932"/>
            </a:avLst>
          </a:prstGeom>
          <a:solidFill>
            <a:srgbClr val="F4F7F6"/>
          </a:solidFill>
          <a:ln w="12700">
            <a:solidFill>
              <a:srgbClr val="E2E8E5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475488" y="6854342"/>
            <a:ext cx="384048" cy="38404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62" name="Text 60"/>
          <p:cNvSpPr/>
          <p:nvPr/>
        </p:nvSpPr>
        <p:spPr>
          <a:xfrm>
            <a:off x="475488" y="685434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10</a:t>
            </a:r>
            <a:endParaRPr lang="en-US" sz="1400" dirty="0"/>
          </a:p>
        </p:txBody>
      </p:sp>
      <p:sp>
        <p:nvSpPr>
          <p:cNvPr id="63" name="Text 61"/>
          <p:cNvSpPr/>
          <p:nvPr/>
        </p:nvSpPr>
        <p:spPr>
          <a:xfrm>
            <a:off x="1850136" y="6836054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☁️</a:t>
            </a:r>
            <a:endParaRPr lang="en-US" sz="2600" dirty="0"/>
          </a:p>
        </p:txBody>
      </p:sp>
      <p:sp>
        <p:nvSpPr>
          <p:cNvPr id="64" name="Text 62"/>
          <p:cNvSpPr/>
          <p:nvPr/>
        </p:nvSpPr>
        <p:spPr>
          <a:xfrm>
            <a:off x="493776" y="7311542"/>
            <a:ext cx="18867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A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in the Cloud</a:t>
            </a:r>
            <a:endParaRPr lang="en-US" sz="1150" dirty="0"/>
          </a:p>
        </p:txBody>
      </p:sp>
      <p:sp>
        <p:nvSpPr>
          <p:cNvPr id="65" name="Text 63"/>
          <p:cNvSpPr/>
          <p:nvPr/>
        </p:nvSpPr>
        <p:spPr>
          <a:xfrm>
            <a:off x="493776" y="7660843"/>
            <a:ext cx="1886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tests on AWS &amp; Docker.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2709672" y="6744614"/>
            <a:ext cx="2142744" cy="1483157"/>
          </a:xfrm>
          <a:prstGeom prst="roundRect">
            <a:avLst>
              <a:gd name="adj" fmla="val 4932"/>
            </a:avLst>
          </a:prstGeom>
          <a:solidFill>
            <a:srgbClr val="F4F7F6"/>
          </a:solidFill>
          <a:ln w="12700">
            <a:solidFill>
              <a:srgbClr val="E2E8E5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67" name="Shape 65"/>
          <p:cNvSpPr/>
          <p:nvPr/>
        </p:nvSpPr>
        <p:spPr>
          <a:xfrm>
            <a:off x="2819400" y="6854342"/>
            <a:ext cx="384048" cy="384048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68" name="Text 66"/>
          <p:cNvSpPr/>
          <p:nvPr/>
        </p:nvSpPr>
        <p:spPr>
          <a:xfrm>
            <a:off x="2819400" y="685434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11</a:t>
            </a:r>
            <a:endParaRPr lang="en-US" sz="1400" dirty="0"/>
          </a:p>
        </p:txBody>
      </p:sp>
      <p:sp>
        <p:nvSpPr>
          <p:cNvPr id="69" name="Text 67"/>
          <p:cNvSpPr/>
          <p:nvPr/>
        </p:nvSpPr>
        <p:spPr>
          <a:xfrm>
            <a:off x="4194048" y="6836054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🔗</a:t>
            </a:r>
            <a:endParaRPr lang="en-US" sz="2600" dirty="0"/>
          </a:p>
        </p:txBody>
      </p:sp>
      <p:sp>
        <p:nvSpPr>
          <p:cNvPr id="70" name="Text 68"/>
          <p:cNvSpPr/>
          <p:nvPr/>
        </p:nvSpPr>
        <p:spPr>
          <a:xfrm>
            <a:off x="2837688" y="7311542"/>
            <a:ext cx="18867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A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API Compatibility</a:t>
            </a:r>
            <a:endParaRPr lang="en-US" sz="1150" dirty="0"/>
          </a:p>
        </p:txBody>
      </p:sp>
      <p:sp>
        <p:nvSpPr>
          <p:cNvPr id="71" name="Text 69"/>
          <p:cNvSpPr/>
          <p:nvPr/>
        </p:nvSpPr>
        <p:spPr>
          <a:xfrm>
            <a:off x="2837688" y="7660843"/>
            <a:ext cx="1886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services working together (Pact).</a:t>
            </a:r>
            <a:endParaRPr lang="en-US" sz="950" dirty="0"/>
          </a:p>
        </p:txBody>
      </p:sp>
      <p:sp>
        <p:nvSpPr>
          <p:cNvPr id="72" name="Shape 70"/>
          <p:cNvSpPr/>
          <p:nvPr/>
        </p:nvSpPr>
        <p:spPr>
          <a:xfrm>
            <a:off x="5053584" y="6744614"/>
            <a:ext cx="2142744" cy="1483157"/>
          </a:xfrm>
          <a:prstGeom prst="roundRect">
            <a:avLst>
              <a:gd name="adj" fmla="val 4932"/>
            </a:avLst>
          </a:prstGeom>
          <a:solidFill>
            <a:srgbClr val="F4F7F6"/>
          </a:solidFill>
          <a:ln w="12700">
            <a:solidFill>
              <a:srgbClr val="E2E8E5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73" name="Shape 71"/>
          <p:cNvSpPr/>
          <p:nvPr/>
        </p:nvSpPr>
        <p:spPr>
          <a:xfrm>
            <a:off x="5163312" y="6854342"/>
            <a:ext cx="384048" cy="384048"/>
          </a:xfrm>
          <a:prstGeom prst="ellipse">
            <a:avLst/>
          </a:prstGeom>
          <a:solidFill>
            <a:srgbClr val="FFB400"/>
          </a:solidFill>
          <a:ln/>
        </p:spPr>
      </p:sp>
      <p:sp>
        <p:nvSpPr>
          <p:cNvPr id="74" name="Text 72"/>
          <p:cNvSpPr/>
          <p:nvPr/>
        </p:nvSpPr>
        <p:spPr>
          <a:xfrm>
            <a:off x="5163312" y="685434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12</a:t>
            </a:r>
            <a:endParaRPr lang="en-US" sz="1400" dirty="0"/>
          </a:p>
        </p:txBody>
      </p:sp>
      <p:sp>
        <p:nvSpPr>
          <p:cNvPr id="75" name="Text 73"/>
          <p:cNvSpPr/>
          <p:nvPr/>
        </p:nvSpPr>
        <p:spPr>
          <a:xfrm>
            <a:off x="6537960" y="6836054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💥</a:t>
            </a:r>
            <a:endParaRPr lang="en-US" sz="2600" dirty="0"/>
          </a:p>
        </p:txBody>
      </p:sp>
      <p:sp>
        <p:nvSpPr>
          <p:cNvPr id="76" name="Text 74"/>
          <p:cNvSpPr/>
          <p:nvPr/>
        </p:nvSpPr>
        <p:spPr>
          <a:xfrm>
            <a:off x="5181600" y="7311542"/>
            <a:ext cx="18867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A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Chaos Testing</a:t>
            </a:r>
            <a:endParaRPr lang="en-US" sz="1150" dirty="0"/>
          </a:p>
        </p:txBody>
      </p:sp>
      <p:sp>
        <p:nvSpPr>
          <p:cNvPr id="77" name="Text 75"/>
          <p:cNvSpPr/>
          <p:nvPr/>
        </p:nvSpPr>
        <p:spPr>
          <a:xfrm>
            <a:off x="5181600" y="7660843"/>
            <a:ext cx="1886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 things on purpose to test strength.</a:t>
            </a:r>
            <a:endParaRPr lang="en-US" sz="950" dirty="0"/>
          </a:p>
        </p:txBody>
      </p:sp>
      <p:sp>
        <p:nvSpPr>
          <p:cNvPr id="78" name="Shape 76"/>
          <p:cNvSpPr/>
          <p:nvPr/>
        </p:nvSpPr>
        <p:spPr>
          <a:xfrm>
            <a:off x="365760" y="8428939"/>
            <a:ext cx="2142744" cy="1483157"/>
          </a:xfrm>
          <a:prstGeom prst="roundRect">
            <a:avLst>
              <a:gd name="adj" fmla="val 4932"/>
            </a:avLst>
          </a:prstGeom>
          <a:solidFill>
            <a:srgbClr val="F4F7F6"/>
          </a:solidFill>
          <a:ln w="12700">
            <a:solidFill>
              <a:srgbClr val="E2E8E5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79" name="Shape 77"/>
          <p:cNvSpPr/>
          <p:nvPr/>
        </p:nvSpPr>
        <p:spPr>
          <a:xfrm>
            <a:off x="475488" y="8538667"/>
            <a:ext cx="384048" cy="38404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80" name="Text 78"/>
          <p:cNvSpPr/>
          <p:nvPr/>
        </p:nvSpPr>
        <p:spPr>
          <a:xfrm>
            <a:off x="475488" y="8538667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13</a:t>
            </a:r>
            <a:endParaRPr lang="en-US" sz="1400" dirty="0"/>
          </a:p>
        </p:txBody>
      </p:sp>
      <p:sp>
        <p:nvSpPr>
          <p:cNvPr id="81" name="Text 79"/>
          <p:cNvSpPr/>
          <p:nvPr/>
        </p:nvSpPr>
        <p:spPr>
          <a:xfrm>
            <a:off x="1850136" y="8520379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📊</a:t>
            </a:r>
            <a:endParaRPr lang="en-US" sz="2600" dirty="0"/>
          </a:p>
        </p:txBody>
      </p:sp>
      <p:sp>
        <p:nvSpPr>
          <p:cNvPr id="82" name="Text 80"/>
          <p:cNvSpPr/>
          <p:nvPr/>
        </p:nvSpPr>
        <p:spPr>
          <a:xfrm>
            <a:off x="493776" y="8995867"/>
            <a:ext cx="18867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A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Results Clearly</a:t>
            </a:r>
            <a:endParaRPr lang="en-US" sz="1150" dirty="0"/>
          </a:p>
        </p:txBody>
      </p:sp>
      <p:sp>
        <p:nvSpPr>
          <p:cNvPr id="83" name="Text 81"/>
          <p:cNvSpPr/>
          <p:nvPr/>
        </p:nvSpPr>
        <p:spPr>
          <a:xfrm>
            <a:off x="493776" y="9345168"/>
            <a:ext cx="1886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test results easy to see.</a:t>
            </a:r>
            <a:endParaRPr lang="en-US" sz="950" dirty="0"/>
          </a:p>
        </p:txBody>
      </p:sp>
      <p:sp>
        <p:nvSpPr>
          <p:cNvPr id="84" name="Shape 82"/>
          <p:cNvSpPr/>
          <p:nvPr/>
        </p:nvSpPr>
        <p:spPr>
          <a:xfrm>
            <a:off x="2709672" y="8428939"/>
            <a:ext cx="2142744" cy="1483157"/>
          </a:xfrm>
          <a:prstGeom prst="roundRect">
            <a:avLst>
              <a:gd name="adj" fmla="val 4932"/>
            </a:avLst>
          </a:prstGeom>
          <a:solidFill>
            <a:srgbClr val="F4F7F6"/>
          </a:solidFill>
          <a:ln w="12700">
            <a:solidFill>
              <a:srgbClr val="E2E8E5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85" name="Shape 83"/>
          <p:cNvSpPr/>
          <p:nvPr/>
        </p:nvSpPr>
        <p:spPr>
          <a:xfrm>
            <a:off x="2819400" y="8538667"/>
            <a:ext cx="384048" cy="384048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86" name="Text 84"/>
          <p:cNvSpPr/>
          <p:nvPr/>
        </p:nvSpPr>
        <p:spPr>
          <a:xfrm>
            <a:off x="2819400" y="8538667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14</a:t>
            </a:r>
            <a:endParaRPr lang="en-US" sz="1400" dirty="0"/>
          </a:p>
        </p:txBody>
      </p:sp>
      <p:sp>
        <p:nvSpPr>
          <p:cNvPr id="87" name="Text 85"/>
          <p:cNvSpPr/>
          <p:nvPr/>
        </p:nvSpPr>
        <p:spPr>
          <a:xfrm>
            <a:off x="4194048" y="8520379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🌟</a:t>
            </a:r>
            <a:endParaRPr lang="en-US" sz="2600" dirty="0"/>
          </a:p>
        </p:txBody>
      </p:sp>
      <p:sp>
        <p:nvSpPr>
          <p:cNvPr id="88" name="Text 86"/>
          <p:cNvSpPr/>
          <p:nvPr/>
        </p:nvSpPr>
        <p:spPr>
          <a:xfrm>
            <a:off x="2837688" y="8995867"/>
            <a:ext cx="18867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A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Promote Good Habits</a:t>
            </a:r>
            <a:endParaRPr lang="en-US" sz="1150" dirty="0"/>
          </a:p>
        </p:txBody>
      </p:sp>
      <p:sp>
        <p:nvSpPr>
          <p:cNvPr id="89" name="Text 87"/>
          <p:cNvSpPr/>
          <p:nvPr/>
        </p:nvSpPr>
        <p:spPr>
          <a:xfrm>
            <a:off x="2837688" y="9345168"/>
            <a:ext cx="1886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Reviews, security scans, mentoring.</a:t>
            </a:r>
            <a:endParaRPr lang="en-US" sz="950" dirty="0"/>
          </a:p>
        </p:txBody>
      </p:sp>
      <p:sp>
        <p:nvSpPr>
          <p:cNvPr id="90" name="Shape 88"/>
          <p:cNvSpPr/>
          <p:nvPr/>
        </p:nvSpPr>
        <p:spPr>
          <a:xfrm>
            <a:off x="5053584" y="8428939"/>
            <a:ext cx="2142744" cy="1483157"/>
          </a:xfrm>
          <a:prstGeom prst="roundRect">
            <a:avLst>
              <a:gd name="adj" fmla="val 4932"/>
            </a:avLst>
          </a:prstGeom>
          <a:solidFill>
            <a:srgbClr val="F4F7F6"/>
          </a:solidFill>
          <a:ln w="12700">
            <a:solidFill>
              <a:srgbClr val="E2E8E5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91" name="Shape 89"/>
          <p:cNvSpPr/>
          <p:nvPr/>
        </p:nvSpPr>
        <p:spPr>
          <a:xfrm>
            <a:off x="5163312" y="8538667"/>
            <a:ext cx="384048" cy="384048"/>
          </a:xfrm>
          <a:prstGeom prst="ellipse">
            <a:avLst/>
          </a:prstGeom>
          <a:solidFill>
            <a:srgbClr val="FFB400"/>
          </a:solidFill>
          <a:ln/>
        </p:spPr>
      </p:sp>
      <p:sp>
        <p:nvSpPr>
          <p:cNvPr id="92" name="Text 90"/>
          <p:cNvSpPr/>
          <p:nvPr/>
        </p:nvSpPr>
        <p:spPr>
          <a:xfrm>
            <a:off x="5163312" y="8538667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15</a:t>
            </a:r>
            <a:endParaRPr lang="en-US" sz="1400" dirty="0"/>
          </a:p>
        </p:txBody>
      </p:sp>
      <p:sp>
        <p:nvSpPr>
          <p:cNvPr id="93" name="Text 91"/>
          <p:cNvSpPr/>
          <p:nvPr/>
        </p:nvSpPr>
        <p:spPr>
          <a:xfrm>
            <a:off x="6537960" y="8520379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📅</a:t>
            </a:r>
            <a:endParaRPr lang="en-US" sz="2600" dirty="0"/>
          </a:p>
        </p:txBody>
      </p:sp>
      <p:sp>
        <p:nvSpPr>
          <p:cNvPr id="94" name="Text 92"/>
          <p:cNvSpPr/>
          <p:nvPr/>
        </p:nvSpPr>
        <p:spPr>
          <a:xfrm>
            <a:off x="5181600" y="8995867"/>
            <a:ext cx="18867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A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 Scrum Meetings</a:t>
            </a:r>
            <a:endParaRPr lang="en-US" sz="1150" dirty="0"/>
          </a:p>
        </p:txBody>
      </p:sp>
      <p:sp>
        <p:nvSpPr>
          <p:cNvPr id="95" name="Text 93"/>
          <p:cNvSpPr/>
          <p:nvPr/>
        </p:nvSpPr>
        <p:spPr>
          <a:xfrm>
            <a:off x="5181600" y="9345168"/>
            <a:ext cx="1886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sure work is truly finished.</a:t>
            </a:r>
            <a:endParaRPr lang="en-US" sz="950" dirty="0"/>
          </a:p>
        </p:txBody>
      </p:sp>
      <p:sp>
        <p:nvSpPr>
          <p:cNvPr id="96" name="Shape 94"/>
          <p:cNvSpPr/>
          <p:nvPr/>
        </p:nvSpPr>
        <p:spPr>
          <a:xfrm>
            <a:off x="365760" y="9976104"/>
            <a:ext cx="6830568" cy="502920"/>
          </a:xfrm>
          <a:prstGeom prst="roundRect">
            <a:avLst>
              <a:gd name="adj" fmla="val 14545"/>
            </a:avLst>
          </a:prstGeom>
          <a:solidFill>
            <a:srgbClr val="1A2238"/>
          </a:solidFill>
          <a:ln/>
        </p:spPr>
      </p:sp>
      <p:sp>
        <p:nvSpPr>
          <p:cNvPr id="97" name="Text 95"/>
          <p:cNvSpPr/>
          <p:nvPr/>
        </p:nvSpPr>
        <p:spPr>
          <a:xfrm>
            <a:off x="365760" y="9976104"/>
            <a:ext cx="68305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B400"/>
                </a:solidFill>
              </a:rPr>
              <a:t>In one line:  </a:t>
            </a:r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I make sure the software works, stays fast, and never breaks.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2026-06-03T14:21:36Z</dcterms:created>
  <dcterms:modified xsi:type="dcterms:W3CDTF">2026-06-03T14:21:36Z</dcterms:modified>
</cp:coreProperties>
</file>