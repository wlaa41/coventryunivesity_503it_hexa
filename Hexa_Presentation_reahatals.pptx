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0" d="100"/>
          <a:sy n="60" d="100"/>
        </p:scale>
        <p:origin x="76" y="4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6719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hero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777240" y="5029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1691640" y="713232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868680" y="27432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1124712" y="26334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COVENTRY UNIVERSITY · 503IT · COMMUNICATION &amp; COLLABORATION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" y="30632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Cyber-Smart Gaming</a:t>
            </a:r>
            <a:endParaRPr lang="en-US" sz="60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Education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822960" y="507492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interactive, story-driven quiz game that teaches online safety — tailored for children, teens and adults.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Hexa  ·  6 Members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risk is rising —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awareness isn't keeping up.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7772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in 3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users have faced a phishing or scam attempt online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4348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Years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47548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exposure before most people receive any cyber education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8092440" y="2834640"/>
            <a:ext cx="3429000" cy="2788920"/>
          </a:xfrm>
          <a:prstGeom prst="roundRect">
            <a:avLst>
              <a:gd name="adj" fmla="val 4590"/>
            </a:avLst>
          </a:prstGeom>
          <a:solidFill>
            <a:srgbClr val="1A2147"/>
          </a:solidFill>
          <a:ln/>
        </p:spPr>
      </p:sp>
      <p:sp>
        <p:nvSpPr>
          <p:cNvPr id="14" name="Shape 12"/>
          <p:cNvSpPr/>
          <p:nvPr/>
        </p:nvSpPr>
        <p:spPr>
          <a:xfrm>
            <a:off x="8092440" y="2834640"/>
            <a:ext cx="109728" cy="2788920"/>
          </a:xfrm>
          <a:prstGeom prst="roundRect">
            <a:avLst>
              <a:gd name="adj" fmla="val 41667"/>
            </a:avLst>
          </a:prstGeom>
          <a:solidFill>
            <a:srgbClr val="2DD4BF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3154680"/>
            <a:ext cx="2926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 recall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8412480" y="4251960"/>
            <a:ext cx="2834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lectures and leaflets are quickly forgotten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brief: build an engaging, computer-based game that makes cyber-security genuinely stick.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shield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0"/>
            <a:ext cx="5150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040880" y="0"/>
            <a:ext cx="5150815" cy="6858000"/>
          </a:xfrm>
          <a:prstGeom prst="rect">
            <a:avLst/>
          </a:prstGeom>
          <a:solidFill>
            <a:srgbClr val="0B1026">
              <a:alpha val="4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68580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57607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100584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Hexa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77240" y="19659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100" i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cyber-security quiz game where you learn by living the story.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777240" y="3108960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Text 6"/>
          <p:cNvSpPr/>
          <p:nvPr/>
        </p:nvSpPr>
        <p:spPr>
          <a:xfrm>
            <a:off x="1143000" y="2990088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Story-driven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143000" y="335584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move through realistic online scenarios and make decisions that shape the outcome.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77240" y="4187952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40690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by choosing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4434840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Multiple-choice moments deliver instant feedback and a clear explanation every time.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77240" y="5266944"/>
            <a:ext cx="201168" cy="20116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5" name="Text 12"/>
          <p:cNvSpPr/>
          <p:nvPr/>
        </p:nvSpPr>
        <p:spPr>
          <a:xfrm>
            <a:off x="1143000" y="5148072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web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143000" y="5513832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HTML, CSS and JavaScript — runs in any browser, no install needed.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steps from scenario to skill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651760"/>
            <a:ext cx="566928" cy="56692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5156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scenario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5156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suspicious email, a risky login, a social-media moment.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927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356616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12" name="Shape 10"/>
          <p:cNvSpPr/>
          <p:nvPr/>
        </p:nvSpPr>
        <p:spPr>
          <a:xfrm>
            <a:off x="3886200" y="2651760"/>
            <a:ext cx="566928" cy="56692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388620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84048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choice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84048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how to respond from realistic multiple-choice options.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0819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35508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18" name="Shape 16"/>
          <p:cNvSpPr/>
          <p:nvPr/>
        </p:nvSpPr>
        <p:spPr>
          <a:xfrm>
            <a:off x="6675120" y="2651760"/>
            <a:ext cx="566928" cy="5669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9" name="Text 17"/>
          <p:cNvSpPr/>
          <p:nvPr/>
        </p:nvSpPr>
        <p:spPr>
          <a:xfrm>
            <a:off x="667512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2940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instant feedback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62940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consequence plus a plain-English explanation.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9711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9144000" y="2286000"/>
            <a:ext cx="2606040" cy="3246120"/>
          </a:xfrm>
          <a:prstGeom prst="roundRect">
            <a:avLst>
              <a:gd name="adj" fmla="val 4912"/>
            </a:avLst>
          </a:prstGeom>
          <a:solidFill>
            <a:srgbClr val="1A2147"/>
          </a:solidFill>
          <a:ln/>
        </p:spPr>
      </p:sp>
      <p:sp>
        <p:nvSpPr>
          <p:cNvPr id="24" name="Shape 22"/>
          <p:cNvSpPr/>
          <p:nvPr/>
        </p:nvSpPr>
        <p:spPr>
          <a:xfrm>
            <a:off x="9464040" y="2651760"/>
            <a:ext cx="566928" cy="56692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633472"/>
            <a:ext cx="566928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18320" y="342900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habit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418320" y="4114800"/>
            <a:ext cx="2103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across scenarios to reinforce safe behaviour.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686032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EVERYONE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game, three audiences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is grouped by age so every player gets scenarios that feel relevant and age-appropriate.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7" name="Image 0" descr="/tmp/ppt_assets/tile_childr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496312"/>
            <a:ext cx="3099816" cy="1691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418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22D3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Children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0972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internet use, protecting personal information and spotting online dangers.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4348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12" name="Image 1" descr="/tmp/ppt_assets/tile_tee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9432" y="2496312"/>
            <a:ext cx="3099816" cy="169164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994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7548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Teens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47548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media, online gaming, cyberbullying, phishing and digital privacy.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92440" y="2331720"/>
            <a:ext cx="3429000" cy="3840480"/>
          </a:xfrm>
          <a:prstGeom prst="roundRect">
            <a:avLst>
              <a:gd name="adj" fmla="val 4267"/>
            </a:avLst>
          </a:prstGeom>
          <a:solidFill>
            <a:srgbClr val="1A2147"/>
          </a:solidFill>
          <a:ln/>
        </p:spPr>
      </p:sp>
      <p:pic>
        <p:nvPicPr>
          <p:cNvPr id="17" name="Image 2" descr="/tmp/ppt_assets/tile_adul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7032" y="2496312"/>
            <a:ext cx="3099816" cy="1691640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257032" y="2496312"/>
            <a:ext cx="3099816" cy="1691640"/>
          </a:xfrm>
          <a:prstGeom prst="roundRect">
            <a:avLst>
              <a:gd name="adj" fmla="val 3243"/>
            </a:avLst>
          </a:prstGeom>
          <a:ln w="15875">
            <a:solidFill>
              <a:srgbClr val="EC4899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8412480" y="43434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Adults</a:t>
            </a:r>
            <a:endParaRPr lang="en-US" sz="2400" dirty="0"/>
          </a:p>
        </p:txBody>
      </p:sp>
      <p:sp>
        <p:nvSpPr>
          <p:cNvPr id="20" name="Text 15"/>
          <p:cNvSpPr/>
          <p:nvPr/>
        </p:nvSpPr>
        <p:spPr>
          <a:xfrm>
            <a:off x="8412480" y="4892040"/>
            <a:ext cx="2880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 security, financial scams, password management and data protection.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testing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REAL USERS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listened, then improved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777240" y="1600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prototypes were trialled with players across our target groups; their feedback shaped the final build.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2D3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100584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players in our test sessions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56616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2" name="Text 9"/>
          <p:cNvSpPr/>
          <p:nvPr/>
        </p:nvSpPr>
        <p:spPr>
          <a:xfrm>
            <a:off x="356616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800" dirty="0"/>
          </a:p>
        </p:txBody>
      </p:sp>
      <p:sp>
        <p:nvSpPr>
          <p:cNvPr id="13" name="Text 10"/>
          <p:cNvSpPr/>
          <p:nvPr/>
        </p:nvSpPr>
        <p:spPr>
          <a:xfrm>
            <a:off x="379476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a full scenario unaided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 / 5</a:t>
            </a:r>
            <a:endParaRPr lang="en-US" sz="3800" dirty="0"/>
          </a:p>
        </p:txBody>
      </p:sp>
      <p:sp>
        <p:nvSpPr>
          <p:cNvPr id="16" name="Text 13"/>
          <p:cNvSpPr/>
          <p:nvPr/>
        </p:nvSpPr>
        <p:spPr>
          <a:xfrm>
            <a:off x="658368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rated the game fun and clear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9144000" y="2286000"/>
            <a:ext cx="2606040" cy="1691640"/>
          </a:xfrm>
          <a:prstGeom prst="roundRect">
            <a:avLst>
              <a:gd name="adj" fmla="val 7568"/>
            </a:avLst>
          </a:prstGeom>
          <a:solidFill>
            <a:srgbClr val="1A2147"/>
          </a:solidFill>
          <a:ln/>
        </p:spPr>
      </p:sp>
      <p:sp>
        <p:nvSpPr>
          <p:cNvPr id="18" name="Text 15"/>
          <p:cNvSpPr/>
          <p:nvPr/>
        </p:nvSpPr>
        <p:spPr>
          <a:xfrm>
            <a:off x="9144000" y="2395728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C489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9" name="Text 16"/>
          <p:cNvSpPr/>
          <p:nvPr/>
        </p:nvSpPr>
        <p:spPr>
          <a:xfrm>
            <a:off x="9372600" y="3200400"/>
            <a:ext cx="2148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 of feedback &amp; iteration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777240" y="4206240"/>
            <a:ext cx="10607040" cy="1920240"/>
          </a:xfrm>
          <a:prstGeom prst="roundRect">
            <a:avLst>
              <a:gd name="adj" fmla="val 6667"/>
            </a:avLst>
          </a:prstGeom>
          <a:solidFill>
            <a:srgbClr val="1A2147"/>
          </a:solidFill>
          <a:ln/>
        </p:spPr>
      </p:sp>
      <p:sp>
        <p:nvSpPr>
          <p:cNvPr id="21" name="Text 18"/>
          <p:cNvSpPr/>
          <p:nvPr/>
        </p:nvSpPr>
        <p:spPr>
          <a:xfrm>
            <a:off x="1097280" y="438912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changed because of feedback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9728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3" name="Text 20"/>
          <p:cNvSpPr/>
          <p:nvPr/>
        </p:nvSpPr>
        <p:spPr>
          <a:xfrm>
            <a:off x="139903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wording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39903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Re-wrote children's questions in plainer language.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61772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6" name="Text 23"/>
          <p:cNvSpPr/>
          <p:nvPr/>
        </p:nvSpPr>
        <p:spPr>
          <a:xfrm>
            <a:off x="491947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Clearer feedback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491947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a short 'why' explanation after every answer.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138160" y="4983480"/>
            <a:ext cx="164592" cy="164592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9" name="Text 26"/>
          <p:cNvSpPr/>
          <p:nvPr/>
        </p:nvSpPr>
        <p:spPr>
          <a:xfrm>
            <a:off x="8439912" y="4873752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tap targets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439912" y="5230368"/>
            <a:ext cx="3154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Enlarged buttons for easier use on touch screens.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access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0"/>
            <a:ext cx="54251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560" y="0"/>
            <a:ext cx="5425135" cy="6858000"/>
          </a:xfrm>
          <a:prstGeom prst="rect">
            <a:avLst/>
          </a:prstGeom>
          <a:solidFill>
            <a:srgbClr val="12183A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/>
        </p:spPr>
      </p:sp>
      <p:sp>
        <p:nvSpPr>
          <p:cNvPr id="5" name="Text 2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&amp; INCLUSION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960120"/>
            <a:ext cx="65836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Designed to be used</a:t>
            </a:r>
            <a:endParaRPr lang="en-US" sz="3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everyone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777240" y="2651760"/>
            <a:ext cx="384048" cy="384048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61518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25880" y="259689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High-contrast colours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1325880" y="296265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and buttons meet readability guidance against the dark theme.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7240" y="3611880"/>
            <a:ext cx="384048" cy="38404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57530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325880" y="355701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friendly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325880" y="392277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quiz options can be reached and selected without a mouse.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457200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453542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451713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Plain, age-tuned language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1325880" y="488289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Wording is matched to each audience — no jargon for younger players.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777240" y="5532120"/>
            <a:ext cx="384048" cy="384048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0" name="Text 17"/>
          <p:cNvSpPr/>
          <p:nvPr/>
        </p:nvSpPr>
        <p:spPr>
          <a:xfrm>
            <a:off x="777240" y="5495544"/>
            <a:ext cx="384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0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325880" y="5477256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anywhere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1325880" y="5843016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Browser-based and lightweight, so no powerful device is required.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DD4BF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BUILT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together, in the open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194560"/>
            <a:ext cx="5166360" cy="3931920"/>
          </a:xfrm>
          <a:prstGeom prst="roundRect">
            <a:avLst>
              <a:gd name="adj" fmla="val 3256"/>
            </a:avLst>
          </a:prstGeom>
          <a:solidFill>
            <a:srgbClr val="1A214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97280" y="3017520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01752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97480" y="30175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scenario content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3730752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7307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3730752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Responsive, age-themed interface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97280" y="4443984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43984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97480" y="4443984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logic, scoring &amp; feedback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097280" y="5157216"/>
            <a:ext cx="1417320" cy="502920"/>
          </a:xfrm>
          <a:prstGeom prst="roundRect">
            <a:avLst>
              <a:gd name="adj" fmla="val 18182"/>
            </a:avLst>
          </a:prstGeom>
          <a:solidFill>
            <a:srgbClr val="0B1026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5157216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97480" y="5157216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tooling &amp; data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63640" y="2194560"/>
            <a:ext cx="5120640" cy="3931920"/>
          </a:xfrm>
          <a:prstGeom prst="roundRect">
            <a:avLst>
              <a:gd name="adj" fmla="val 3256"/>
            </a:avLst>
          </a:prstGeom>
          <a:solidFill>
            <a:srgbClr val="1A2147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24231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Collaboration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583680" y="3081528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96265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903720" y="3273552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shared repo — 79 commits, branch-based workflow.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3680" y="3840480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721608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minutes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03720" y="4032504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agendas, decisions and action plans.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583680" y="4599432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448056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guide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903720" y="4791456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doc keeping all six members aligned.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83680" y="535838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1" name="Text 29"/>
          <p:cNvSpPr/>
          <p:nvPr/>
        </p:nvSpPr>
        <p:spPr>
          <a:xfrm>
            <a:off x="6903720" y="523951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tracking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903720" y="5550408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ownership and deadlines for every deliverable.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EC4899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43891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members, one solution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46888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0574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Bhandari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574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15606963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46888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SJS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7150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Sandesh Jung Shah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7150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15626710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092440" y="19659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0" y="2468880"/>
            <a:ext cx="777240" cy="777240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4688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72600" y="24688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Abdullah Bakhurdeen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72600" y="29260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15580319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21" name="Shape 19"/>
          <p:cNvSpPr/>
          <p:nvPr/>
        </p:nvSpPr>
        <p:spPr>
          <a:xfrm>
            <a:off x="1097280" y="4526280"/>
            <a:ext cx="777240" cy="777240"/>
          </a:xfrm>
          <a:prstGeom prst="ellipse">
            <a:avLst/>
          </a:prstGeom>
          <a:solidFill>
            <a:srgbClr val="EC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NS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0574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Nabin Sunar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574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15618449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348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26" name="Shape 24"/>
          <p:cNvSpPr/>
          <p:nvPr/>
        </p:nvSpPr>
        <p:spPr>
          <a:xfrm>
            <a:off x="4754880" y="4526280"/>
            <a:ext cx="777240" cy="777240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JJ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150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Johns Jimee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7150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15502001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092440" y="4023360"/>
            <a:ext cx="3429000" cy="1783080"/>
          </a:xfrm>
          <a:prstGeom prst="roundRect">
            <a:avLst>
              <a:gd name="adj" fmla="val 7179"/>
            </a:avLst>
          </a:prstGeom>
          <a:solidFill>
            <a:srgbClr val="1A2147"/>
          </a:solidFill>
          <a:ln/>
        </p:spPr>
      </p:sp>
      <p:sp>
        <p:nvSpPr>
          <p:cNvPr id="31" name="Shape 29"/>
          <p:cNvSpPr/>
          <p:nvPr/>
        </p:nvSpPr>
        <p:spPr>
          <a:xfrm>
            <a:off x="8412480" y="452628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5262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0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SB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9372600" y="4526280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Sijan Bhandari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372600" y="498348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15597041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18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64008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1033272" y="5303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&amp; ROADMAP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 — and where it goes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77240" y="2240280"/>
            <a:ext cx="5166360" cy="3886200"/>
          </a:xfrm>
          <a:prstGeom prst="roundRect">
            <a:avLst>
              <a:gd name="adj" fmla="val 3294"/>
            </a:avLst>
          </a:prstGeom>
          <a:solidFill>
            <a:srgbClr val="1A2147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097280" y="3108960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8" name="Text 6"/>
          <p:cNvSpPr/>
          <p:nvPr/>
        </p:nvSpPr>
        <p:spPr>
          <a:xfrm>
            <a:off x="1417320" y="29992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cyber-security awareness through play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822192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37124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age-appropriate, accessible education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97280" y="4535424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44256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safe everyday online behaviour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097280" y="5248656"/>
            <a:ext cx="164592" cy="164592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4" name="Text 12"/>
          <p:cNvSpPr/>
          <p:nvPr/>
        </p:nvSpPr>
        <p:spPr>
          <a:xfrm>
            <a:off x="1417320" y="51389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learning genuinely engaging via storytelling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63640" y="2240280"/>
            <a:ext cx="5120640" cy="3886200"/>
          </a:xfrm>
          <a:prstGeom prst="roundRect">
            <a:avLst>
              <a:gd name="adj" fmla="val 3294"/>
            </a:avLst>
          </a:prstGeom>
          <a:solidFill>
            <a:srgbClr val="1A2147"/>
          </a:solidFill>
          <a:ln/>
        </p:spPr>
      </p:sp>
      <p:sp>
        <p:nvSpPr>
          <p:cNvPr id="16" name="Text 14"/>
          <p:cNvSpPr/>
          <p:nvPr/>
        </p:nvSpPr>
        <p:spPr>
          <a:xfrm>
            <a:off x="6583680" y="24688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83680" y="3090672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2990088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storylines &amp; scenarios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583680" y="3666744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3566160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Leaderboards and achievements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83680" y="4242816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4142232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Multiplayer challenges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583680" y="4818888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4718304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progress tracking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583680" y="5394960"/>
            <a:ext cx="164592" cy="16459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5294376"/>
            <a:ext cx="4297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companion mobile app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ppt_assets/closing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6">
              <a:alpha val="7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40680" y="137160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6000" dirty="0"/>
          </a:p>
        </p:txBody>
      </p:sp>
      <p:sp>
        <p:nvSpPr>
          <p:cNvPr id="5" name="Text 2"/>
          <p:cNvSpPr/>
          <p:nvPr/>
        </p:nvSpPr>
        <p:spPr>
          <a:xfrm>
            <a:off x="1097280" y="269748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cyber-security</a:t>
            </a:r>
            <a:endParaRPr lang="en-US" sz="38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something you play, not skip.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1097280" y="4480560"/>
            <a:ext cx="9966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97280" y="6035040"/>
            <a:ext cx="9966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Hexa  ·  503IT Communication &amp; Collaboration  ·  Coventry University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667</Words>
  <Application>Microsoft Office PowerPoint</Application>
  <PresentationFormat>Widescreen</PresentationFormat>
  <Paragraphs>155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Johns Jimee</cp:lastModifiedBy>
  <cp:revision>1</cp:revision>
  <dcterms:created xsi:type="dcterms:W3CDTF">2026-06-02T22:24:41Z</dcterms:created>
  <dcterms:modified xsi:type="dcterms:W3CDTF">2026-06-03T08:49:24Z</dcterms:modified>
</cp:coreProperties>
</file>